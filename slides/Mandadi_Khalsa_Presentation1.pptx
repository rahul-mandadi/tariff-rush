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SPLIT: slides 1-4 one of us, 5-8 the other. Both must speak.</a:t>
            </a:r>
          </a:p>
          <a:p>
            <a:r>
              <a:t>Eight slides for 10-15 minutes. Slides 2, 3 and 8 need the most time; 4 and 5 the least.</a:t>
            </a:r>
          </a:p>
          <a:p>
            <a:r>
              <a:t>Slides 9 and 10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 Importers rush, and you can see it in the copper line climbing before the date.</a:t>
            </a:r>
          </a:p>
          <a:p/>
          <a:p>
            <a:r>
              <a:t>Afterwards imports usually fall below normal, because buyers already stocked up.</a:t>
            </a:r>
          </a:p>
          <a:p/>
          <a:p>
            <a:r>
              <a:t>This behaviour is called front-loading. That is the whole subject of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PROBLEM. Short, it is a signpost.</a:t>
            </a:r>
          </a:p>
          <a:p/>
          <a:p>
            <a:r>
              <a:t>Question 1 is the rush. Question 2 is what the drop afterwards actually means, which is the hard one. Question 3 is duration.</a:t>
            </a:r>
          </a:p>
          <a:p/>
          <a:p>
            <a:r>
              <a:t>Say plainly that this presentation is the data and its limits, not answers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Two things on this slide, go left then right.</a:t>
            </a:r>
          </a:p>
          <a:p/>
          <a:p>
            <a:r>
              <a:t>Left: monthly US imports from the Census Bureau, free and public, 140 months.</a:t>
            </a:r>
          </a:p>
          <a:p/>
          <a:p>
            <a:r>
              <a:t>Right: what a row actually is. One product, one country, one month.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8.</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60-million-dollar chapter, so almost any month looks extreme next to its own history. Works of art and clocks are small and lumpy.</a:t>
            </a:r>
          </a:p>
          <a:p/>
          <a:p>
            <a:r>
              <a:t>Cocoa is the one to dwell on. It sits high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actions.</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and this is why. The null was our ruler, not the world.</a:t>
            </a:r>
          </a:p>
          <a:p/>
          <a:p>
            <a:r>
              <a:t>The fix is to work at the 8-digit level, where a tariff either names a product or it does not. Everything after this is built that way.</a:t>
            </a:r>
          </a:p>
          <a:p/>
          <a:p>
            <a:r>
              <a:t>-- NARRATE IT THROUGH COPPER, which they already know from slides 2, 5 and 6 --</a:t>
            </a:r>
          </a:p>
          <a:p>
            <a:r>
              <a:t>Ten separate tariff actions touch copper, chapter 74. Three of them cover more than half the chapter: 95%, 59%, 59%. The other seven cover under 1%, and several are civil-aircraft carve-outs that name a single product line. The median action touching copper covers 0.1% of it.</a:t>
            </a:r>
          </a:p>
          <a:p>
            <a:r>
              <a:t>So if you mark copper as tariffed whenever any action fires, seven times out of ten you have flagged an entire chapter over something touching less than one percent of it. That is what the chart shows, across all 1,350 action-chapter pairs.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AND NEXT STEPS.</a:t>
            </a:r>
          </a:p>
          <a:p/>
          <a:p>
            <a:r>
              <a:t>Be straight that this is data and limits, not results. Results come next.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Aluminium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5" name="TextBox 4"/>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6" name="TextBox 5"/>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7" name="TextBox 6"/>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8" name="TextBox 7"/>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re-sourcing suppliers, lenders with exposure to a single</a:t>
            </a:r>
          </a:p>
          <a:p>
            <a:pPr algn="l">
              <a:lnSpc>
                <a:spcPct val="100000"/>
              </a:lnSpc>
            </a:pPr>
            <a:r>
              <a:rPr sz="1300" b="0" i="0">
                <a:solidFill>
                  <a:srgbClr val="6E737C"/>
                </a:solidFill>
                <a:latin typeface="Avenir Next"/>
              </a:rPr>
              <a:t>origin, carriers serving an affected trade lane</a:t>
            </a:r>
          </a:p>
        </p:txBody>
      </p:sp>
      <p:sp>
        <p:nvSpPr>
          <p:cNvPr id="9" name="TextBox 8"/>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 duty is announced, then starts later.</a:t>
            </a:r>
          </a:p>
          <a:p>
            <a:pPr algn="l">
              <a:lnSpc>
                <a:spcPct val="112000"/>
              </a:lnSpc>
            </a:pPr>
            <a:r>
              <a:rPr sz="1700" b="0" i="0">
                <a:solidFill>
                  <a:srgbClr val="6E737C"/>
                </a:solidFill>
                <a:latin typeface="Avenir Next"/>
              </a:rPr>
              <a:t>That gap is a window to import before it applies.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three-way classification: borrowed, lost, or relocated</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with censoring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biggest suppliers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       CHILE    719,291,110  74,332,392</a:t>
            </a:r>
          </a:p>
          <a:p>
            <a:pPr algn="l">
              <a:lnSpc>
                <a:spcPct val="135000"/>
              </a:lnSpc>
            </a:pPr>
            <a:r>
              <a:rPr sz="1000" b="0" i="0">
                <a:solidFill>
                  <a:srgbClr val="14161A"/>
                </a:solidFill>
                <a:latin typeface="Courier New"/>
              </a:rPr>
              <a:t>74       CANADA   288,797,724  29,299,850</a:t>
            </a:r>
          </a:p>
          <a:p>
            <a:pPr algn="l">
              <a:lnSpc>
                <a:spcPct val="135000"/>
              </a:lnSpc>
            </a:pPr>
            <a:r>
              <a:rPr sz="1000" b="0" i="0">
                <a:solidFill>
                  <a:srgbClr val="14161A"/>
                </a:solidFill>
                <a:latin typeface="Courier New"/>
              </a:rPr>
              <a:t>74       GERMANY  177,404,661  15,671,176</a:t>
            </a:r>
          </a:p>
          <a:p>
            <a:pPr algn="l">
              <a:lnSpc>
                <a:spcPct val="135000"/>
              </a:lnSpc>
            </a:pPr>
            <a:r>
              <a:rPr sz="1000" b="0" i="0">
                <a:solidFill>
                  <a:srgbClr val="14161A"/>
                </a:solidFill>
                <a:latin typeface="Courier New"/>
              </a:rPr>
              <a:t>74       MEXICO    98,936,124  10,906,662</a:t>
            </a:r>
          </a:p>
          <a:p>
            <a:pPr algn="l">
              <a:lnSpc>
                <a:spcPct val="135000"/>
              </a:lnSpc>
            </a:pPr>
            <a:r>
              <a:rPr sz="1000" b="0" i="0">
                <a:solidFill>
                  <a:srgbClr val="14161A"/>
                </a:solidFill>
                <a:latin typeface="Courier New"/>
              </a:rPr>
              <a:t>74       PERU      91,039,306   9,003,463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the level tariff orders are written at</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822960"/>
          </a:xfrm>
          <a:prstGeom prst="rect">
            <a:avLst/>
          </a:prstGeom>
          <a:noFill/>
        </p:spPr>
        <p:txBody>
          <a:bodyPr wrap="square">
            <a:spAutoFit/>
          </a:bodyPr>
          <a:lstStyle/>
          <a:p>
            <a:pPr algn="l">
              <a:lnSpc>
                <a:spcPct val="112000"/>
              </a:lnSpc>
            </a:pPr>
            <a:r>
              <a:rPr sz="1700" b="0" i="0">
                <a:solidFill>
                  <a:srgbClr val="6E737C"/>
                </a:solidFill>
                <a:latin typeface="Avenir Next"/>
              </a:rPr>
              <a:t>Fig. 3   2017 adds up to 2,340 billion dollars against a published 2.34 trillion, and all</a:t>
            </a:r>
          </a:p>
          <a:p>
            <a:pPr algn="l">
              <a:lnSpc>
                <a:spcPct val="112000"/>
              </a:lnSpc>
            </a:pPr>
            <a:r>
              <a:rPr sz="1700" b="0" i="0">
                <a:solidFill>
                  <a:srgbClr val="6E737C"/>
                </a:solidFill>
                <a:latin typeface="Avenir Next"/>
              </a:rPr>
              <a:t>140 months 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Each chapter measured against its own normal range, built only from data before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4115" y="1874519"/>
            <a:ext cx="8403464" cy="3822191"/>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Published work measures these at HS-8 to HS-10 [1]. Coarser data shrinks estimates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Built and checked</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140 months at the level tariffs are written, reconciled against published totals.</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A detector, and its limits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It finds unusual months. It cannot tell a tariff from a price shock.</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134 tariff actions, with the products behind each one</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Corrected dates, and the 8-digit product lists.</a:t>
            </a:r>
          </a:p>
        </p:txBody>
      </p:sp>
      <p:sp>
        <p:nvSpPr>
          <p:cNvPr id="12" name="TextBox 11"/>
          <p:cNvSpPr txBox="1"/>
          <p:nvPr/>
        </p:nvSpPr>
        <p:spPr>
          <a:xfrm>
            <a:off x="822960" y="46634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How we will measure it</a:t>
            </a:r>
          </a:p>
        </p:txBody>
      </p:sp>
      <p:sp>
        <p:nvSpPr>
          <p:cNvPr id="13" name="TextBox 12"/>
          <p:cNvSpPr txBox="1"/>
          <p:nvPr/>
        </p:nvSpPr>
        <p:spPr>
          <a:xfrm>
            <a:off x="822960" y="51206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Within product, across origins.</a:t>
            </a:r>
          </a:p>
        </p:txBody>
      </p:sp>
      <p:sp>
        <p:nvSpPr>
          <p:cNvPr id="14" name="TextBox 13"/>
          <p:cNvSpPr txBox="1"/>
          <p:nvPr/>
        </p:nvSpPr>
        <p:spPr>
          <a:xfrm>
            <a:off x="822960" y="55778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How we will know it is real</a:t>
            </a:r>
          </a:p>
        </p:txBody>
      </p:sp>
      <p:sp>
        <p:nvSpPr>
          <p:cNvPr id="15" name="TextBox 14"/>
          <p:cNvSpPr txBox="1"/>
          <p:nvPr/>
        </p:nvSpPr>
        <p:spPr>
          <a:xfrm>
            <a:off x="822960" y="60350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Every estimate against a placebo. Three methods have already failed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8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 tariff.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