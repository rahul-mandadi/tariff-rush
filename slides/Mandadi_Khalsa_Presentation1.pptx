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SPLIT: slides 1-4 one of us, 5-8 the other. Both must speak.</a:t>
            </a:r>
          </a:p>
          <a:p>
            <a:r>
              <a:t>Eight slides for 10-15 minutes. Slides 2, 3 and 8 need the most time; 4 and 5 the least.</a:t>
            </a:r>
          </a:p>
          <a:p>
            <a:r>
              <a:t>Slides 9 and 10 are backup for questions, not part of the talk.</a:t>
            </a:r>
          </a:p>
          <a:p/>
          <a:p>
            <a:r>
              <a:t>Do not read the stakeholder line aloud. It is there for the rubric and the PDF.</a:t>
            </a:r>
          </a:p>
          <a:p/>
          <a:p>
            <a:r>
              <a:t>================ Q&amp;A PREP ================</a:t>
            </a:r>
          </a:p>
          <a:p>
            <a:r>
              <a:t>The deck is scoped to data, limits and next steps on purpose. These are not on the slides, but we should be able to answer all six cold.</a:t>
            </a:r>
          </a:p>
          <a:p/>
          <a:p>
            <a:r>
              <a:t>1. DOMAIN PROBLEM. A tariff is announced with a future start date, importers rush ahead of it, and imports fall afterwards. Someone exposed to the targeted country has to decide on announcement day whether to wait it out or re-source, and the data that would settle it arrives about five weeks after each month closes. Slides 2 and 3.</a:t>
            </a:r>
          </a:p>
          <a:p/>
          <a:p>
            <a:r>
              <a:t>2. DATA SCIENCE PROBLEM. Three, in order: a classification problem (does a surge occur), a regression problem (how large), and a duration problem (how long does the aftermath last, with right-censoring for episodes still running at the end of the panel). Slide 4 states them in plain language; this is the technical framing.</a:t>
            </a:r>
          </a:p>
          <a:p/>
          <a:p>
            <a:r>
              <a:t>3. WHO AND WHAT. Whoever carries exposure to one origin rather than to total volume: an importer deciding whether to requalify a supplier, a lender holding that as credit risk, a carrier running that origin's service. We are explicit that we are still testing which of those the data serves best. An earlier version of this project named port and terminal operators; we tested that and dropped it, because displaced volume arrives from a different country through substantially the same US customs districts.</a:t>
            </a:r>
          </a:p>
          <a:p/>
          <a:p>
            <a:r>
              <a:t>4. DATA SOURCES. Two, both public and free. US Census international trade API for monthly imports, pulled at HS10 (slide 5). The Federal Register API for tariff actions, 2,792 documents classified down to 134 real actions (backup slide 9). The product lists behind each action come from the USITC Harmonized Tariff Schedule, chapter 99.</a:t>
            </a:r>
          </a:p>
          <a:p/>
          <a:p>
            <a:r>
              <a:t>5. METHODOLOGY. Pull at HS10 because tariff orders are written at HS8 and HS10 nests inside it, so matching is exact rather than approximate. Build a counterfactual per series from pre-event data only. Then compare a tariffed product from a tariffed country against the same product from countries that were not tariffed, in the same month. That last step is the important one: a commodity price shock moves every origin together and cancels, while a tariff moves one origin against the rest.</a:t>
            </a:r>
          </a:p>
          <a:p/>
          <a:p>
            <a:r>
              <a:t>6. EVALUATION AND METRICS. Every estimate is paired with a placebo: the same calculation with every event shifted back 24 months. If a result does not separate from its own placebo we do not report it as a result. That discipline has already retired three candidate methods. For the predictive questions, forward-chaining validation by year and grouped by case, so no case appears in both folds and the model is always tested on cases later than the ones it learned from, scored against a deliberately hard naive benchmark rather than against zero.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LAYMAN CONTEXT. Assume nobody knows what a tariff is.</a:t>
            </a:r>
          </a:p>
          <a:p/>
          <a:p>
            <a:r>
              <a:t>A tariff is a tax on imports. The government announces it, and it starts on a named date weeks or months later.</a:t>
            </a:r>
          </a:p>
          <a:p/>
          <a:p>
            <a:r>
              <a:t>That gap creates an obvious incentive: get your goods in before the tax starts. Importers rush, and you can see it in the copper line climbing before the date.</a:t>
            </a:r>
          </a:p>
          <a:p/>
          <a:p>
            <a:r>
              <a:t>Afterwards imports usually fall below normal, because buyers already stocked up.</a:t>
            </a:r>
          </a:p>
          <a:p/>
          <a:p>
            <a:r>
              <a:t>This behaviour is called front-loading. That is the whole subject of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DOMAIN PROBLEM. This slide says why anyone should care.</a:t>
            </a:r>
          </a:p>
          <a:p/>
          <a:p>
            <a:r>
              <a:t>Somebody has to act on announcement day. An importer with a supplier in the tariffed country has to decide whether to wait it out or qualify a new supplier somewhere else, and requalifying runs months and costs real money. A lender behind either side holds the same question as credit risk. A carrier running that origin's service has to decide whether to keep it.</a:t>
            </a:r>
          </a:p>
          <a:p/>
          <a:p>
            <a:r>
              <a:t>And you cannot just wait and watch, because the data is late. By the time two bad months show up, the duty has been in force for a quarter.</a:t>
            </a:r>
          </a:p>
          <a:p/>
          <a:p>
            <a:r>
              <a:t>So the decision is made before the answer is knowable. That is the gap we are trying to close.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ANALYTIC PROBLEM. Short, it is a signpost.</a:t>
            </a:r>
          </a:p>
          <a:p/>
          <a:p>
            <a:r>
              <a:t>Question 1 is the rush. Question 2 is what the drop afterwards actually means, which is the hard one. Question 3 is duration.</a:t>
            </a:r>
          </a:p>
          <a:p/>
          <a:p>
            <a:r>
              <a:t>Say plainly that this presentation is the data and its limits, not answers yet.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Two things on this slide, go left then right.</a:t>
            </a:r>
          </a:p>
          <a:p/>
          <a:p>
            <a:r>
              <a:t>Left: monthly US imports from the Census Bureau, free and public, 140 months.</a:t>
            </a:r>
          </a:p>
          <a:p/>
          <a:p>
            <a:r>
              <a:t>Right: what a row actually is. One product, one country, one month. Value is always reported. Weight in kilograms is reported for about 91% of rows and is the better measure, because it does not move when prices move, and it counts goods arriving by truck and rail which the shipping-weight columns miss entirely.</a:t>
            </a:r>
          </a:p>
          <a:p/>
          <a:p>
            <a:r>
              <a:t>The important choice: we pull at 10 digits. Tariff orders are written at 8, and 10 nests inside 8, so we can match a tariff to exactly the products it names instead of guessing. Say this slowly, it matters for slide 8.</a:t>
            </a:r>
          </a:p>
          <a:p/>
          <a:p>
            <a:r>
              <a:t>Why trust it: read the takeaway line.</a:t>
            </a:r>
          </a:p>
          <a:p/>
          <a:p>
            <a:r>
              <a:t>Then mention the tariff side in one sentence: we also searched the Federal Register, 2,792 documents, and classified 134 of them as real tariff actions, in two waves, 2018-19 and a bigger one in 2025. Backup slide 9 has the chart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AND ITS LIMIT. This is the slide that shows judgement, do not skip it.</a:t>
            </a:r>
          </a:p>
          <a:p/>
          <a:p>
            <a:r>
              <a:t>First explain the x-axis in one sentence: for each product we built what it would have done anyway from earlier years, drew a band for ordinary month-to-month wobble, and this is how far outside that band 2025 went. Backup slide 10 shows the band on copper if anyone wants to see it.</a:t>
            </a:r>
          </a:p>
          <a:p/>
          <a:p>
            <a:r>
              <a:t>Some of these are plausible tariff stories: organic chemicals and pharmaceuticals were under open tariff threat in 2025, and gold moved into US vaults ahead of expected duties.</a:t>
            </a:r>
          </a:p>
          <a:p/>
          <a:p>
            <a:r>
              <a:t>Some are not. Silk is a 60-million-dollar chapter, so almost any month looks extreme next to its own history. Works of art and clocks are small and lumpy.</a:t>
            </a:r>
          </a:p>
          <a:p/>
          <a:p>
            <a:r>
              <a:t>Cocoa is the one to dwell on. It sits high because cocoa prices roughly tripled after bad West African harvests. We measure in dollars, so a price spike reads as a volume surge.</a:t>
            </a:r>
          </a:p>
          <a:p/>
          <a:p>
            <a:r>
              <a:t>So the detector finds unusual months. It does not know why. Something has to connect an unusual month to an actual tariff, and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SLIDE. If time runs short, this is the one that must survive.</a:t>
            </a:r>
          </a:p>
          <a:p/>
          <a:p>
            <a:r>
              <a:t>A tariff order does not say 'chapter 74, copper'. It points at a list of 8-digit product codes, usually published in a separate legal notice. Until you read those lists, the only thing you can do is treat a whole chapter as tariffed whenever an action touches anything inside it.</a:t>
            </a:r>
          </a:p>
          <a:p/>
          <a:p>
            <a:r>
              <a:t>We read them: 9,083 distinct 8-digit codes across 162 actions.</a:t>
            </a:r>
          </a:p>
          <a:p/>
          <a:p>
            <a:r>
              <a:t>The typical action covers about 5% of its chapter's value. A third cover under 1%.</a:t>
            </a:r>
          </a:p>
          <a:p/>
          <a:p>
            <a:r>
              <a:t>So chapter-level treatment means roughly 95% of what you are measuring is trade the tariff never touched. Any real reaction in the 5% gets averaged away by the 95% that did nothing.</a:t>
            </a:r>
          </a:p>
          <a:p/>
          <a:p>
            <a:r>
              <a:t>That is exactly what happened to us. Our first attempt to measure an effect found nothing, and this is why. The null was our ruler, not the world.</a:t>
            </a:r>
          </a:p>
          <a:p/>
          <a:p>
            <a:r>
              <a:t>The fix is to work at the 8-digit level, where a tariff either names a product or it does not. Everything after this is built that way.</a:t>
            </a:r>
          </a:p>
          <a:p/>
          <a:p>
            <a:r>
              <a:t>-- NARRATE IT THROUGH COPPER, which they already know from slides 2, 5 and 6 --</a:t>
            </a:r>
          </a:p>
          <a:p>
            <a:r>
              <a:t>Ten separate tariff actions touch copper, chapter 74. Three of them cover more than half the chapter: 95%, 59%, 59%. The other seven cover under 1%, and several are civil-aircraft carve-outs that name a single product line. The median action touching copper covers 0.1% of it.</a:t>
            </a:r>
          </a:p>
          <a:p>
            <a:r>
              <a:t>So if you mark copper as tariffed whenever any action fires, seven times out of ten you have flagged an entire chapter over something touching less than one percent of it. That is what the chart shows, across all 1,350 action-chapter pairs.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DISCUSSION AND NEXT STEPS.</a:t>
            </a:r>
          </a:p>
          <a:p/>
          <a:p>
            <a:r>
              <a:t>Be straight that this is data and limits, not results. Results come next.</a:t>
            </a:r>
          </a:p>
          <a:p/>
          <a:p>
            <a:r>
              <a:t>The one thing to claim as a finding: we measured why the obvious approach fails, and the number is 5%.</a:t>
            </a:r>
          </a:p>
          <a:p/>
          <a:p>
            <a:r>
              <a:t>If asked 'so is there a rush?': we now have the data and the product-level matching to answer it, and the chapter-level version of the question was unanswerable for the reason on the previous slide.</a:t>
            </a:r>
          </a:p>
          <a:p/>
          <a:p>
            <a:r>
              <a:t>If asked 'who exactly is the customer?': the decision is where to source next and when, and it sits with whoever is exposed to a particular country rather than to total volume. Say we are still testing which of those the data best serves. True, and better than naming one confidently.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where the tariff dates come from or how many actions there are.</a:t>
            </a:r>
          </a:p>
          <a:p/>
          <a:p>
            <a:r>
              <a:t>Two waves: 2018-19, and a much bigger one in 2025. The legal authority turns out to matter, which is why they are split out 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not part of the talk. Use if asked how the normal range on slide 6 is built.</a:t>
            </a:r>
          </a:p>
          <a:p/>
          <a:p>
            <a:r>
              <a:t>Copper peaks 89% above normal against a band of 50%, so it clears.</a:t>
            </a:r>
          </a:p>
          <a:p/>
          <a:p>
            <a:r>
              <a:t>Aluminium does NOT clear: it peaks at 26% against a band of 100%, because its own history is volatile. Same tariff year, and the test says no. A test that can say no is the only kind worth having.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1874519"/>
            <a:ext cx="10817352" cy="960120"/>
          </a:xfrm>
          <a:prstGeom prst="rect">
            <a:avLst/>
          </a:prstGeom>
          <a:noFill/>
        </p:spPr>
        <p:txBody>
          <a:bodyPr wrap="square">
            <a:spAutoFit/>
          </a:bodyPr>
          <a:lstStyle/>
          <a:p>
            <a:pPr algn="l">
              <a:lnSpc>
                <a:spcPct val="100000"/>
              </a:lnSpc>
            </a:pPr>
            <a:r>
              <a:rPr sz="4800" b="1" i="0">
                <a:solidFill>
                  <a:srgbClr val="14161A"/>
                </a:solidFill>
                <a:latin typeface="Avenir Next"/>
              </a:rPr>
              <a:t>Borrowed or Real</a:t>
            </a:r>
          </a:p>
        </p:txBody>
      </p:sp>
      <p:sp>
        <p:nvSpPr>
          <p:cNvPr id="5" name="TextBox 4"/>
          <p:cNvSpPr txBox="1"/>
          <p:nvPr/>
        </p:nvSpPr>
        <p:spPr>
          <a:xfrm>
            <a:off x="685800" y="2852928"/>
            <a:ext cx="10817352" cy="640080"/>
          </a:xfrm>
          <a:prstGeom prst="rect">
            <a:avLst/>
          </a:prstGeom>
          <a:noFill/>
        </p:spPr>
        <p:txBody>
          <a:bodyPr wrap="square">
            <a:spAutoFit/>
          </a:bodyPr>
          <a:lstStyle/>
          <a:p>
            <a:pPr algn="l">
              <a:lnSpc>
                <a:spcPct val="100000"/>
              </a:lnSpc>
            </a:pPr>
            <a:r>
              <a:rPr sz="2500" b="0" i="0">
                <a:solidFill>
                  <a:srgbClr val="C8102E"/>
                </a:solidFill>
                <a:latin typeface="Avenir Next"/>
              </a:rPr>
              <a:t>Forecasting import surges around U.S. tariffs</a:t>
            </a:r>
          </a:p>
        </p:txBody>
      </p:sp>
      <p:sp>
        <p:nvSpPr>
          <p:cNvPr id="6" name="TextBox 5"/>
          <p:cNvSpPr txBox="1"/>
          <p:nvPr/>
        </p:nvSpPr>
        <p:spPr>
          <a:xfrm>
            <a:off x="685800" y="3822191"/>
            <a:ext cx="10817352" cy="457200"/>
          </a:xfrm>
          <a:prstGeom prst="rect">
            <a:avLst/>
          </a:prstGeom>
          <a:noFill/>
        </p:spPr>
        <p:txBody>
          <a:bodyPr wrap="square">
            <a:spAutoFit/>
          </a:bodyPr>
          <a:lstStyle/>
          <a:p>
            <a:pPr algn="l">
              <a:lnSpc>
                <a:spcPct val="100000"/>
              </a:lnSpc>
            </a:pPr>
            <a:r>
              <a:rPr sz="1800" b="1" i="0">
                <a:solidFill>
                  <a:srgbClr val="14161A"/>
                </a:solidFill>
                <a:latin typeface="Avenir Next"/>
              </a:rPr>
              <a:t>Rahul Reddy Mandadi   +   Raunaksingh Khalsa</a:t>
            </a:r>
          </a:p>
        </p:txBody>
      </p:sp>
      <p:sp>
        <p:nvSpPr>
          <p:cNvPr id="7" name="TextBox 6"/>
          <p:cNvSpPr txBox="1"/>
          <p:nvPr/>
        </p:nvSpPr>
        <p:spPr>
          <a:xfrm>
            <a:off x="685800" y="4261104"/>
            <a:ext cx="10817352" cy="457200"/>
          </a:xfrm>
          <a:prstGeom prst="rect">
            <a:avLst/>
          </a:prstGeom>
          <a:noFill/>
        </p:spPr>
        <p:txBody>
          <a:bodyPr wrap="square">
            <a:spAutoFit/>
          </a:bodyPr>
          <a:lstStyle/>
          <a:p>
            <a:pPr algn="l">
              <a:lnSpc>
                <a:spcPct val="100000"/>
              </a:lnSpc>
            </a:pPr>
            <a:r>
              <a:rPr sz="1300" b="0" i="0">
                <a:solidFill>
                  <a:srgbClr val="6E737C"/>
                </a:solidFill>
                <a:latin typeface="Avenir Next"/>
              </a:rPr>
              <a:t>DS 5500 Data Science Capstone   |   Presentation 1   |   October 2026</a:t>
            </a:r>
          </a:p>
        </p:txBody>
      </p:sp>
      <p:sp>
        <p:nvSpPr>
          <p:cNvPr id="8" name="TextBox 7"/>
          <p:cNvSpPr txBox="1"/>
          <p:nvPr/>
        </p:nvSpPr>
        <p:spPr>
          <a:xfrm>
            <a:off x="685800" y="5047488"/>
            <a:ext cx="10817352" cy="822960"/>
          </a:xfrm>
          <a:prstGeom prst="rect">
            <a:avLst/>
          </a:prstGeom>
          <a:noFill/>
        </p:spPr>
        <p:txBody>
          <a:bodyPr wrap="square">
            <a:spAutoFit/>
          </a:bodyPr>
          <a:lstStyle/>
          <a:p>
            <a:pPr algn="l">
              <a:lnSpc>
                <a:spcPct val="100000"/>
              </a:lnSpc>
            </a:pPr>
            <a:r>
              <a:rPr sz="1300" b="0" i="0">
                <a:solidFill>
                  <a:srgbClr val="6E737C"/>
                </a:solidFill>
                <a:latin typeface="Avenir Next"/>
              </a:rPr>
              <a:t>Stakeholders: importers re-sourcing suppliers, lenders with exposure to a single</a:t>
            </a:r>
          </a:p>
          <a:p>
            <a:pPr algn="l">
              <a:lnSpc>
                <a:spcPct val="100000"/>
              </a:lnSpc>
            </a:pPr>
            <a:r>
              <a:rPr sz="1300" b="0" i="0">
                <a:solidFill>
                  <a:srgbClr val="6E737C"/>
                </a:solidFill>
                <a:latin typeface="Avenir Next"/>
              </a:rPr>
              <a:t>origin, carriers serving an affected trade lane</a:t>
            </a:r>
          </a:p>
        </p:txBody>
      </p:sp>
      <p:sp>
        <p:nvSpPr>
          <p:cNvPr id="9" name="TextBox 8"/>
          <p:cNvSpPr txBox="1"/>
          <p:nvPr/>
        </p:nvSpPr>
        <p:spPr>
          <a:xfrm>
            <a:off x="685800" y="5897880"/>
            <a:ext cx="10817352" cy="365760"/>
          </a:xfrm>
          <a:prstGeom prst="rect">
            <a:avLst/>
          </a:prstGeom>
          <a:noFill/>
        </p:spPr>
        <p:txBody>
          <a:bodyPr wrap="square">
            <a:spAutoFit/>
          </a:bodyPr>
          <a:lstStyle/>
          <a:p>
            <a:pPr algn="l">
              <a:lnSpc>
                <a:spcPct val="100000"/>
              </a:lnSpc>
            </a:pPr>
            <a:r>
              <a:rPr sz="1300" b="1" i="0">
                <a:solidFill>
                  <a:srgbClr val="C8102E"/>
                </a:solidFill>
                <a:latin typeface="Avenir Next"/>
              </a:rPr>
              <a:t>github.com/rahul-mandadi/tariff-rush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Every tariff comes with a date.</a:t>
            </a:r>
          </a:p>
        </p:txBody>
      </p:sp>
      <p:pic>
        <p:nvPicPr>
          <p:cNvPr id="5" name="Picture 4" descr="01_context.png"/>
          <p:cNvPicPr>
            <a:picLocks noChangeAspect="1"/>
          </p:cNvPicPr>
          <p:nvPr/>
        </p:nvPicPr>
        <p:blipFill>
          <a:blip r:embed="rId2"/>
          <a:stretch>
            <a:fillRect/>
          </a:stretch>
        </p:blipFill>
        <p:spPr>
          <a:xfrm>
            <a:off x="1920906" y="1874519"/>
            <a:ext cx="8349882"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1   Copper imports. A duty is announced, then starts later.</a:t>
            </a:r>
          </a:p>
          <a:p>
            <a:pPr algn="l">
              <a:lnSpc>
                <a:spcPct val="112000"/>
              </a:lnSpc>
            </a:pPr>
            <a:r>
              <a:rPr sz="1700" b="0" i="0">
                <a:solidFill>
                  <a:srgbClr val="6E737C"/>
                </a:solidFill>
                <a:latin typeface="Avenir Next"/>
              </a:rPr>
              <a:t>That gap is a window to import before it applies.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The decision comes before the data.</a:t>
            </a:r>
          </a:p>
        </p:txBody>
      </p:sp>
      <p:pic>
        <p:nvPicPr>
          <p:cNvPr id="5" name="Picture 4" descr="02_timeline.png"/>
          <p:cNvPicPr>
            <a:picLocks noChangeAspect="1"/>
          </p:cNvPicPr>
          <p:nvPr/>
        </p:nvPicPr>
        <p:blipFill>
          <a:blip r:embed="rId2"/>
          <a:stretch>
            <a:fillRect/>
          </a:stretch>
        </p:blipFill>
        <p:spPr>
          <a:xfrm>
            <a:off x="687171" y="1874519"/>
            <a:ext cx="10817352" cy="3682239"/>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2   Importers, lenders and carriers all decide here.</a:t>
            </a:r>
          </a:p>
          <a:p>
            <a:pPr algn="l">
              <a:lnSpc>
                <a:spcPct val="112000"/>
              </a:lnSpc>
            </a:pPr>
            <a:r>
              <a:rPr sz="1700" b="0" i="0">
                <a:solidFill>
                  <a:srgbClr val="6E737C"/>
                </a:solidFill>
                <a:latin typeface="Avenir Next"/>
              </a:rPr>
              <a:t>Census publishes monthly trade about five weeks after the month closes.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So we ask three questions.</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This presentation is about the data and what it can support. Results come next.</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1.  Will there be a rush, and how big?</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classification, then regression</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2.  What happens after the duty starts?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three-way classification: borrowed, lost, or relocated</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2000" b="1" i="0">
                <a:solidFill>
                  <a:srgbClr val="14161A"/>
                </a:solidFill>
                <a:latin typeface="Avenir Next"/>
              </a:rPr>
              <a:t>3.  How long does it last?</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2000" b="0" i="0">
                <a:solidFill>
                  <a:srgbClr val="6E737C"/>
                </a:solidFill>
                <a:latin typeface="Avenir Next"/>
              </a:rPr>
              <a:t>duration, with censoring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What we have.</a:t>
            </a:r>
          </a:p>
        </p:txBody>
      </p:sp>
      <p:pic>
        <p:nvPicPr>
          <p:cNvPr id="5" name="Picture 4" descr="03_panel.png"/>
          <p:cNvPicPr>
            <a:picLocks noChangeAspect="1"/>
          </p:cNvPicPr>
          <p:nvPr/>
        </p:nvPicPr>
        <p:blipFill>
          <a:blip r:embed="rId2"/>
          <a:stretch>
            <a:fillRect/>
          </a:stretch>
        </p:blipFill>
        <p:spPr>
          <a:xfrm>
            <a:off x="685800" y="2057400"/>
            <a:ext cx="5989320" cy="2446973"/>
          </a:xfrm>
          <a:prstGeom prst="rect">
            <a:avLst/>
          </a:prstGeom>
        </p:spPr>
      </p:pic>
      <p:sp>
        <p:nvSpPr>
          <p:cNvPr id="6" name="TextBox 5"/>
          <p:cNvSpPr txBox="1"/>
          <p:nvPr/>
        </p:nvSpPr>
        <p:spPr>
          <a:xfrm>
            <a:off x="7040880" y="2029968"/>
            <a:ext cx="4462272" cy="365760"/>
          </a:xfrm>
          <a:prstGeom prst="rect">
            <a:avLst/>
          </a:prstGeom>
          <a:noFill/>
        </p:spPr>
        <p:txBody>
          <a:bodyPr wrap="square">
            <a:spAutoFit/>
          </a:bodyPr>
          <a:lstStyle/>
          <a:p>
            <a:pPr algn="l">
              <a:lnSpc>
                <a:spcPct val="100000"/>
              </a:lnSpc>
            </a:pPr>
            <a:r>
              <a:rPr sz="1400" b="1" i="0">
                <a:solidFill>
                  <a:srgbClr val="14161A"/>
                </a:solidFill>
                <a:latin typeface="Avenir Next"/>
              </a:rPr>
              <a:t>Table 1   One product, one country, one month.</a:t>
            </a:r>
          </a:p>
        </p:txBody>
      </p:sp>
      <p:sp>
        <p:nvSpPr>
          <p:cNvPr id="7" name="TextBox 6"/>
          <p:cNvSpPr txBox="1"/>
          <p:nvPr/>
        </p:nvSpPr>
        <p:spPr>
          <a:xfrm>
            <a:off x="7040880" y="2377440"/>
            <a:ext cx="4462272" cy="365760"/>
          </a:xfrm>
          <a:prstGeom prst="rect">
            <a:avLst/>
          </a:prstGeom>
          <a:noFill/>
        </p:spPr>
        <p:txBody>
          <a:bodyPr wrap="square">
            <a:spAutoFit/>
          </a:bodyPr>
          <a:lstStyle/>
          <a:p>
            <a:pPr algn="l">
              <a:lnSpc>
                <a:spcPct val="100000"/>
              </a:lnSpc>
            </a:pPr>
            <a:r>
              <a:rPr sz="1200" b="0" i="0">
                <a:solidFill>
                  <a:srgbClr val="6E737C"/>
                </a:solidFill>
                <a:latin typeface="Avenir Next"/>
              </a:rPr>
              <a:t>Copper, March 2025, biggest suppliers</a:t>
            </a:r>
          </a:p>
        </p:txBody>
      </p:sp>
      <p:sp>
        <p:nvSpPr>
          <p:cNvPr id="8" name="TextBox 7"/>
          <p:cNvSpPr txBox="1"/>
          <p:nvPr/>
        </p:nvSpPr>
        <p:spPr>
          <a:xfrm>
            <a:off x="7040880" y="2743200"/>
            <a:ext cx="4462272" cy="1737360"/>
          </a:xfrm>
          <a:prstGeom prst="rect">
            <a:avLst/>
          </a:prstGeom>
          <a:noFill/>
        </p:spPr>
        <p:txBody>
          <a:bodyPr wrap="square">
            <a:spAutoFit/>
          </a:bodyPr>
          <a:lstStyle/>
          <a:p>
            <a:pPr algn="l">
              <a:lnSpc>
                <a:spcPct val="135000"/>
              </a:lnSpc>
            </a:pPr>
            <a:r>
              <a:rPr sz="1000" b="0" i="0">
                <a:solidFill>
                  <a:srgbClr val="14161A"/>
                </a:solidFill>
                <a:latin typeface="Courier New"/>
              </a:rPr>
              <a:t>product  country     value, $          kg</a:t>
            </a:r>
          </a:p>
          <a:p>
            <a:pPr algn="l">
              <a:lnSpc>
                <a:spcPct val="135000"/>
              </a:lnSpc>
            </a:pPr>
            <a:r>
              <a:rPr sz="1000" b="0" i="0">
                <a:solidFill>
                  <a:srgbClr val="14161A"/>
                </a:solidFill>
                <a:latin typeface="Courier New"/>
              </a:rPr>
              <a:t>-----------------------------------------</a:t>
            </a:r>
          </a:p>
          <a:p>
            <a:pPr algn="l">
              <a:lnSpc>
                <a:spcPct val="135000"/>
              </a:lnSpc>
            </a:pPr>
            <a:r>
              <a:rPr sz="1000" b="0" i="0">
                <a:solidFill>
                  <a:srgbClr val="14161A"/>
                </a:solidFill>
                <a:latin typeface="Courier New"/>
              </a:rPr>
              <a:t>74       CHILE    719,291,110  74,332,392</a:t>
            </a:r>
          </a:p>
          <a:p>
            <a:pPr algn="l">
              <a:lnSpc>
                <a:spcPct val="135000"/>
              </a:lnSpc>
            </a:pPr>
            <a:r>
              <a:rPr sz="1000" b="0" i="0">
                <a:solidFill>
                  <a:srgbClr val="14161A"/>
                </a:solidFill>
                <a:latin typeface="Courier New"/>
              </a:rPr>
              <a:t>74       CANADA   288,797,724  29,299,850</a:t>
            </a:r>
          </a:p>
          <a:p>
            <a:pPr algn="l">
              <a:lnSpc>
                <a:spcPct val="135000"/>
              </a:lnSpc>
            </a:pPr>
            <a:r>
              <a:rPr sz="1000" b="0" i="0">
                <a:solidFill>
                  <a:srgbClr val="14161A"/>
                </a:solidFill>
                <a:latin typeface="Courier New"/>
              </a:rPr>
              <a:t>74       GERMANY  177,404,661  15,671,176</a:t>
            </a:r>
          </a:p>
          <a:p>
            <a:pPr algn="l">
              <a:lnSpc>
                <a:spcPct val="135000"/>
              </a:lnSpc>
            </a:pPr>
            <a:r>
              <a:rPr sz="1000" b="0" i="0">
                <a:solidFill>
                  <a:srgbClr val="14161A"/>
                </a:solidFill>
                <a:latin typeface="Courier New"/>
              </a:rPr>
              <a:t>74       MEXICO    98,936,124  10,906,662</a:t>
            </a:r>
          </a:p>
          <a:p>
            <a:pPr algn="l">
              <a:lnSpc>
                <a:spcPct val="135000"/>
              </a:lnSpc>
            </a:pPr>
            <a:r>
              <a:rPr sz="1000" b="0" i="0">
                <a:solidFill>
                  <a:srgbClr val="14161A"/>
                </a:solidFill>
                <a:latin typeface="Courier New"/>
              </a:rPr>
              <a:t>74       PERU      91,039,306   9,003,463</a:t>
            </a:r>
          </a:p>
        </p:txBody>
      </p:sp>
      <p:sp>
        <p:nvSpPr>
          <p:cNvPr id="9" name="TextBox 8"/>
          <p:cNvSpPr txBox="1"/>
          <p:nvPr/>
        </p:nvSpPr>
        <p:spPr>
          <a:xfrm>
            <a:off x="7040880" y="4315968"/>
            <a:ext cx="4462272" cy="1097280"/>
          </a:xfrm>
          <a:prstGeom prst="rect">
            <a:avLst/>
          </a:prstGeom>
          <a:noFill/>
        </p:spPr>
        <p:txBody>
          <a:bodyPr wrap="square">
            <a:spAutoFit/>
          </a:bodyPr>
          <a:lstStyle/>
          <a:p>
            <a:pPr algn="l">
              <a:lnSpc>
                <a:spcPct val="125000"/>
              </a:lnSpc>
            </a:pPr>
            <a:r>
              <a:rPr sz="1200" b="0" i="0">
                <a:solidFill>
                  <a:srgbClr val="6E737C"/>
                </a:solidFill>
                <a:latin typeface="Avenir Next"/>
              </a:rPr>
              <a:t>140 months, Jan 2015 to Aug 2026</a:t>
            </a:r>
          </a:p>
          <a:p>
            <a:pPr algn="l">
              <a:lnSpc>
                <a:spcPct val="125000"/>
              </a:lnSpc>
            </a:pPr>
            <a:r>
              <a:rPr sz="1200" b="0" i="0">
                <a:solidFill>
                  <a:srgbClr val="6E737C"/>
                </a:solidFill>
                <a:latin typeface="Avenir Next"/>
              </a:rPr>
              <a:t>15.9 million product-country-month records</a:t>
            </a:r>
          </a:p>
          <a:p>
            <a:pPr algn="l">
              <a:lnSpc>
                <a:spcPct val="125000"/>
              </a:lnSpc>
            </a:pPr>
            <a:r>
              <a:rPr sz="1200" b="0" i="0">
                <a:solidFill>
                  <a:srgbClr val="6E737C"/>
                </a:solidFill>
                <a:latin typeface="Avenir Next"/>
              </a:rPr>
              <a:t>Pulled at 10 digits, the level tariff orders are written at</a:t>
            </a:r>
          </a:p>
        </p:txBody>
      </p:sp>
      <p:sp>
        <p:nvSpPr>
          <p:cNvPr id="10" name="TextBox 9"/>
          <p:cNvSpPr txBox="1"/>
          <p:nvPr/>
        </p:nvSpPr>
        <p:spPr>
          <a:xfrm>
            <a:off x="7040880" y="5138928"/>
            <a:ext cx="4462272" cy="731520"/>
          </a:xfrm>
          <a:prstGeom prst="rect">
            <a:avLst/>
          </a:prstGeom>
          <a:noFill/>
        </p:spPr>
        <p:txBody>
          <a:bodyPr wrap="square">
            <a:spAutoFit/>
          </a:bodyPr>
          <a:lstStyle/>
          <a:p>
            <a:pPr algn="l">
              <a:lnSpc>
                <a:spcPct val="125000"/>
              </a:lnSpc>
            </a:pPr>
            <a:r>
              <a:rPr sz="1200" b="1" i="0">
                <a:solidFill>
                  <a:srgbClr val="14161A"/>
                </a:solidFill>
                <a:latin typeface="Avenir Next"/>
              </a:rPr>
              <a:t>Census trade API  +  Federal Register API</a:t>
            </a:r>
          </a:p>
          <a:p>
            <a:pPr algn="l">
              <a:lnSpc>
                <a:spcPct val="125000"/>
              </a:lnSpc>
            </a:pPr>
            <a:r>
              <a:rPr sz="1200" b="1" i="0">
                <a:solidFill>
                  <a:srgbClr val="14161A"/>
                </a:solidFill>
                <a:latin typeface="Avenir Next"/>
              </a:rPr>
              <a:t>2,792 documents, 134 real tariff actions</a:t>
            </a:r>
          </a:p>
        </p:txBody>
      </p:sp>
      <p:sp>
        <p:nvSpPr>
          <p:cNvPr id="11" name="TextBox 10"/>
          <p:cNvSpPr txBox="1"/>
          <p:nvPr/>
        </p:nvSpPr>
        <p:spPr>
          <a:xfrm>
            <a:off x="685800" y="5897880"/>
            <a:ext cx="10817352" cy="822960"/>
          </a:xfrm>
          <a:prstGeom prst="rect">
            <a:avLst/>
          </a:prstGeom>
          <a:noFill/>
        </p:spPr>
        <p:txBody>
          <a:bodyPr wrap="square">
            <a:spAutoFit/>
          </a:bodyPr>
          <a:lstStyle/>
          <a:p>
            <a:pPr algn="l">
              <a:lnSpc>
                <a:spcPct val="112000"/>
              </a:lnSpc>
            </a:pPr>
            <a:r>
              <a:rPr sz="1700" b="0" i="0">
                <a:solidFill>
                  <a:srgbClr val="6E737C"/>
                </a:solidFill>
                <a:latin typeface="Avenir Next"/>
              </a:rPr>
              <a:t>Fig. 3   2017 adds up to 2,340 billion dollars against a published 2.34 trillion, and all</a:t>
            </a:r>
          </a:p>
          <a:p>
            <a:pPr algn="l">
              <a:lnSpc>
                <a:spcPct val="112000"/>
              </a:lnSpc>
            </a:pPr>
            <a:r>
              <a:rPr sz="1700" b="0" i="0">
                <a:solidFill>
                  <a:srgbClr val="6E737C"/>
                </a:solidFill>
                <a:latin typeface="Avenir Next"/>
              </a:rPr>
              <a:t>140 months reconcile against a separate total the API returns on its own.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Unusual is not the same as tariffed.</a:t>
            </a:r>
          </a:p>
        </p:txBody>
      </p:sp>
      <p:pic>
        <p:nvPicPr>
          <p:cNvPr id="5" name="Picture 4" descr="05_chapters.png"/>
          <p:cNvPicPr>
            <a:picLocks noChangeAspect="1"/>
          </p:cNvPicPr>
          <p:nvPr/>
        </p:nvPicPr>
        <p:blipFill>
          <a:blip r:embed="rId2"/>
          <a:stretch>
            <a:fillRect/>
          </a:stretch>
        </p:blipFill>
        <p:spPr>
          <a:xfrm>
            <a:off x="1700115" y="1874519"/>
            <a:ext cx="879146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4   Each chapter measured against its own normal range, built only from data before 2025.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And this is where it nearly came apart.</a:t>
            </a:r>
          </a:p>
        </p:txBody>
      </p:sp>
      <p:pic>
        <p:nvPicPr>
          <p:cNvPr id="5" name="Picture 4" descr="07_coverage.png"/>
          <p:cNvPicPr>
            <a:picLocks noChangeAspect="1"/>
          </p:cNvPicPr>
          <p:nvPr/>
        </p:nvPicPr>
        <p:blipFill>
          <a:blip r:embed="rId2"/>
          <a:stretch>
            <a:fillRect/>
          </a:stretch>
        </p:blipFill>
        <p:spPr>
          <a:xfrm>
            <a:off x="1894115" y="1874519"/>
            <a:ext cx="8403464" cy="3822191"/>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5   The typical tariff action covers about 5% of its chapter's value. A third cover under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Where we are.</a:t>
            </a:r>
          </a:p>
        </p:txBody>
      </p:sp>
      <p:sp>
        <p:nvSpPr>
          <p:cNvPr id="5" name="TextBox 4"/>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Take-away for anyone working with this data: do not measure tariff effects at chapter level.</a:t>
            </a:r>
          </a:p>
          <a:p>
            <a:pPr algn="l">
              <a:lnSpc>
                <a:spcPct val="112000"/>
              </a:lnSpc>
            </a:pPr>
            <a:r>
              <a:rPr sz="1700" b="0" i="0">
                <a:solidFill>
                  <a:srgbClr val="6E737C"/>
                </a:solidFill>
                <a:latin typeface="Avenir Next"/>
              </a:rPr>
              <a:t>The typical action touches 5% of a chapter, so a real effect averages away to nothing.</a:t>
            </a:r>
          </a:p>
        </p:txBody>
      </p:sp>
      <p:sp>
        <p:nvSpPr>
          <p:cNvPr id="6" name="TextBox 5"/>
          <p:cNvSpPr txBox="1"/>
          <p:nvPr/>
        </p:nvSpPr>
        <p:spPr>
          <a:xfrm>
            <a:off x="822960" y="1920240"/>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Built and checked</a:t>
            </a:r>
          </a:p>
        </p:txBody>
      </p:sp>
      <p:sp>
        <p:nvSpPr>
          <p:cNvPr id="7" name="TextBox 6"/>
          <p:cNvSpPr txBox="1"/>
          <p:nvPr/>
        </p:nvSpPr>
        <p:spPr>
          <a:xfrm>
            <a:off x="822960" y="23774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140 months at the level tariffs are written, reconciled against published totals.</a:t>
            </a:r>
          </a:p>
        </p:txBody>
      </p:sp>
      <p:sp>
        <p:nvSpPr>
          <p:cNvPr id="8" name="TextBox 7"/>
          <p:cNvSpPr txBox="1"/>
          <p:nvPr/>
        </p:nvSpPr>
        <p:spPr>
          <a:xfrm>
            <a:off x="822960" y="2834640"/>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A detector, and its limits</a:t>
            </a:r>
          </a:p>
        </p:txBody>
      </p:sp>
      <p:sp>
        <p:nvSpPr>
          <p:cNvPr id="9" name="TextBox 8"/>
          <p:cNvSpPr txBox="1"/>
          <p:nvPr/>
        </p:nvSpPr>
        <p:spPr>
          <a:xfrm>
            <a:off x="822960" y="32918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It finds unusual months. It cannot tell a tariff from a price shock.</a:t>
            </a:r>
          </a:p>
        </p:txBody>
      </p:sp>
      <p:sp>
        <p:nvSpPr>
          <p:cNvPr id="10" name="TextBox 9"/>
          <p:cNvSpPr txBox="1"/>
          <p:nvPr/>
        </p:nvSpPr>
        <p:spPr>
          <a:xfrm>
            <a:off x="822960" y="3749039"/>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134 tariff actions, with the products behind each one</a:t>
            </a:r>
          </a:p>
        </p:txBody>
      </p:sp>
      <p:sp>
        <p:nvSpPr>
          <p:cNvPr id="11" name="TextBox 10"/>
          <p:cNvSpPr txBox="1"/>
          <p:nvPr/>
        </p:nvSpPr>
        <p:spPr>
          <a:xfrm>
            <a:off x="822960" y="42062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Corrected dates, and the 8-digit product lists.</a:t>
            </a:r>
          </a:p>
        </p:txBody>
      </p:sp>
      <p:sp>
        <p:nvSpPr>
          <p:cNvPr id="12" name="TextBox 11"/>
          <p:cNvSpPr txBox="1"/>
          <p:nvPr/>
        </p:nvSpPr>
        <p:spPr>
          <a:xfrm>
            <a:off x="822960" y="4663440"/>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How we will measure it</a:t>
            </a:r>
          </a:p>
        </p:txBody>
      </p:sp>
      <p:sp>
        <p:nvSpPr>
          <p:cNvPr id="13" name="TextBox 12"/>
          <p:cNvSpPr txBox="1"/>
          <p:nvPr/>
        </p:nvSpPr>
        <p:spPr>
          <a:xfrm>
            <a:off x="822960" y="51206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Within product, across origins.</a:t>
            </a:r>
          </a:p>
        </p:txBody>
      </p:sp>
      <p:sp>
        <p:nvSpPr>
          <p:cNvPr id="14" name="TextBox 13"/>
          <p:cNvSpPr txBox="1"/>
          <p:nvPr/>
        </p:nvSpPr>
        <p:spPr>
          <a:xfrm>
            <a:off x="822960" y="5577840"/>
            <a:ext cx="10360152" cy="731520"/>
          </a:xfrm>
          <a:prstGeom prst="rect">
            <a:avLst/>
          </a:prstGeom>
          <a:noFill/>
        </p:spPr>
        <p:txBody>
          <a:bodyPr wrap="square">
            <a:spAutoFit/>
          </a:bodyPr>
          <a:lstStyle/>
          <a:p>
            <a:pPr algn="l">
              <a:lnSpc>
                <a:spcPct val="115000"/>
              </a:lnSpc>
            </a:pPr>
            <a:r>
              <a:rPr sz="1700" b="1" i="0">
                <a:solidFill>
                  <a:srgbClr val="14161A"/>
                </a:solidFill>
                <a:latin typeface="Avenir Next"/>
              </a:rPr>
              <a:t>How we will know it is real</a:t>
            </a:r>
          </a:p>
        </p:txBody>
      </p:sp>
      <p:sp>
        <p:nvSpPr>
          <p:cNvPr id="15" name="TextBox 14"/>
          <p:cNvSpPr txBox="1"/>
          <p:nvPr/>
        </p:nvSpPr>
        <p:spPr>
          <a:xfrm>
            <a:off x="822960" y="6035040"/>
            <a:ext cx="10360152" cy="731520"/>
          </a:xfrm>
          <a:prstGeom prst="rect">
            <a:avLst/>
          </a:prstGeom>
          <a:noFill/>
        </p:spPr>
        <p:txBody>
          <a:bodyPr wrap="square">
            <a:spAutoFit/>
          </a:bodyPr>
          <a:lstStyle/>
          <a:p>
            <a:pPr algn="l">
              <a:lnSpc>
                <a:spcPct val="115000"/>
              </a:lnSpc>
            </a:pPr>
            <a:r>
              <a:rPr sz="1700" b="0" i="0">
                <a:solidFill>
                  <a:srgbClr val="6E737C"/>
                </a:solidFill>
                <a:latin typeface="Avenir Next"/>
              </a:rPr>
              <a:t>Every estimate against a placebo. Three methods have already failed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the tariff actions we found.</a:t>
            </a:r>
          </a:p>
        </p:txBody>
      </p:sp>
      <p:pic>
        <p:nvPicPr>
          <p:cNvPr id="5" name="Picture 4" descr="06_events.png"/>
          <p:cNvPicPr>
            <a:picLocks noChangeAspect="1"/>
          </p:cNvPicPr>
          <p:nvPr/>
        </p:nvPicPr>
        <p:blipFill>
          <a:blip r:embed="rId2"/>
          <a:stretch>
            <a:fillRect/>
          </a:stretch>
        </p:blipFill>
        <p:spPr>
          <a:xfrm>
            <a:off x="687171" y="1874519"/>
            <a:ext cx="10817352" cy="3625596"/>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6   2,792 Federal Register documents reviewed, 134 are real tariff actions.</a:t>
            </a:r>
          </a:p>
          <a:p>
            <a:pPr algn="l">
              <a:lnSpc>
                <a:spcPct val="112000"/>
              </a:lnSpc>
            </a:pPr>
            <a:r>
              <a:rPr sz="1700" b="0" i="0">
                <a:solidFill>
                  <a:srgbClr val="6E737C"/>
                </a:solidFill>
                <a:latin typeface="Avenir Next"/>
              </a:rPr>
              <a:t>Median gap from announcement to start date is 8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0" y="292608"/>
            <a:ext cx="6016752" cy="274320"/>
          </a:xfrm>
          <a:prstGeom prst="rect">
            <a:avLst/>
          </a:prstGeom>
          <a:noFill/>
        </p:spPr>
        <p:txBody>
          <a:bodyPr wrap="square">
            <a:spAutoFit/>
          </a:bodyPr>
          <a:lstStyle/>
          <a:p>
            <a:pPr algn="r">
              <a:lnSpc>
                <a:spcPct val="100000"/>
              </a:lnSpc>
            </a:pPr>
            <a:r>
              <a:rPr sz="900" b="0" i="0">
                <a:solidFill>
                  <a:srgbClr val="6E737C"/>
                </a:solidFill>
                <a:latin typeface="Avenir Next"/>
              </a:rPr>
              <a:t>RAHUL REDDY MANDADI   +   RAUNAKSINGH KHALSA</a:t>
            </a:r>
          </a:p>
        </p:txBody>
      </p:sp>
      <p:cxnSp>
        <p:nvCxnSpPr>
          <p:cNvPr id="3" name="Connector 2"/>
          <p:cNvCxnSpPr/>
          <p:nvPr/>
        </p:nvCxnSpPr>
        <p:spPr>
          <a:xfrm>
            <a:off x="685800" y="676656"/>
            <a:ext cx="10817352" cy="0"/>
          </a:xfrm>
          <a:prstGeom prst="line">
            <a:avLst/>
          </a:prstGeom>
          <a:ln w="9525">
            <a:solidFill>
              <a:srgbClr val="6E737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85800" y="868680"/>
            <a:ext cx="10817352" cy="731520"/>
          </a:xfrm>
          <a:prstGeom prst="rect">
            <a:avLst/>
          </a:prstGeom>
          <a:noFill/>
        </p:spPr>
        <p:txBody>
          <a:bodyPr wrap="square">
            <a:spAutoFit/>
          </a:bodyPr>
          <a:lstStyle/>
          <a:p>
            <a:pPr algn="l">
              <a:lnSpc>
                <a:spcPct val="100000"/>
              </a:lnSpc>
            </a:pPr>
            <a:r>
              <a:rPr sz="3800" b="1" i="0">
                <a:solidFill>
                  <a:srgbClr val="14161A"/>
                </a:solidFill>
                <a:latin typeface="Avenir Next"/>
              </a:rPr>
              <a:t>Backup: what a normal range looks like.</a:t>
            </a:r>
          </a:p>
        </p:txBody>
      </p:sp>
      <p:pic>
        <p:nvPicPr>
          <p:cNvPr id="5" name="Picture 4" descr="04_normal.png"/>
          <p:cNvPicPr>
            <a:picLocks noChangeAspect="1"/>
          </p:cNvPicPr>
          <p:nvPr/>
        </p:nvPicPr>
        <p:blipFill>
          <a:blip r:embed="rId2"/>
          <a:stretch>
            <a:fillRect/>
          </a:stretch>
        </p:blipFill>
        <p:spPr>
          <a:xfrm>
            <a:off x="1824380" y="1874519"/>
            <a:ext cx="8542934" cy="3822192"/>
          </a:xfrm>
          <a:prstGeom prst="rect">
            <a:avLst/>
          </a:prstGeom>
        </p:spPr>
      </p:pic>
      <p:sp>
        <p:nvSpPr>
          <p:cNvPr id="6" name="TextBox 5"/>
          <p:cNvSpPr txBox="1"/>
          <p:nvPr/>
        </p:nvSpPr>
        <p:spPr>
          <a:xfrm>
            <a:off x="685800" y="5897880"/>
            <a:ext cx="10817352" cy="685800"/>
          </a:xfrm>
          <a:prstGeom prst="rect">
            <a:avLst/>
          </a:prstGeom>
          <a:noFill/>
        </p:spPr>
        <p:txBody>
          <a:bodyPr wrap="square">
            <a:spAutoFit/>
          </a:bodyPr>
          <a:lstStyle/>
          <a:p>
            <a:pPr algn="l">
              <a:lnSpc>
                <a:spcPct val="112000"/>
              </a:lnSpc>
            </a:pPr>
            <a:r>
              <a:rPr sz="1700" b="0" i="0">
                <a:solidFill>
                  <a:srgbClr val="6E737C"/>
                </a:solidFill>
                <a:latin typeface="Avenir Next"/>
              </a:rPr>
              <a:t>Fig. 7   Copper against its own expected range, built only from data before the tariff.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