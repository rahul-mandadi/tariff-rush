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8 need the most time; 4 and 5 the least.</a:t>
            </a:r>
          </a:p>
          <a:p>
            <a:r>
              <a:t>Slides 9 and 10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 Importers rush, and you can see it in the copper line climbing before the date.</a:t>
            </a:r>
          </a:p>
          <a:p/>
          <a:p>
            <a:r>
              <a:t>Afterwards imports usually fall below normal, because buyers already stocked up.</a:t>
            </a:r>
          </a:p>
          <a:p/>
          <a:p>
            <a:r>
              <a:t>This behaviour is called front-loading. That is the whole subject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Question 3 is duration.</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product, one country, one month.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8.</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60-million-dollar chapter, so almost any month looks extreme next to its own history. Works of art and clocks are small and lumpy.</a:t>
            </a:r>
          </a:p>
          <a:p/>
          <a:p>
            <a:r>
              <a:t>Cocoa is the one to dwell on. It sits high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actions.</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0.1% of it.</a:t>
            </a:r>
          </a:p>
          <a:p>
            <a:r>
              <a:t>So if you mark copper as tariffed whenever any action fires, seven times out of ten you have flagged an entire chapter over something touching less than one percent of it. That is what the chart shows, across all 1,350 action-chapter pairs.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Aluminium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5" name="TextBox 4"/>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6" name="TextBox 5"/>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7" name="TextBox 6"/>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8" name="TextBox 7"/>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re-sourcing suppliers, lenders with exposure to a single</a:t>
            </a:r>
          </a:p>
          <a:p>
            <a:pPr algn="l">
              <a:lnSpc>
                <a:spcPct val="100000"/>
              </a:lnSpc>
            </a:pPr>
            <a:r>
              <a:rPr sz="1300" b="0" i="0">
                <a:solidFill>
                  <a:srgbClr val="6E737C"/>
                </a:solidFill>
                <a:latin typeface="Avenir Next"/>
              </a:rPr>
              <a:t>origin, carriers serving an affected trade lane</a:t>
            </a:r>
          </a:p>
        </p:txBody>
      </p:sp>
      <p:sp>
        <p:nvSpPr>
          <p:cNvPr id="9" name="TextBox 8"/>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A duty is announced, then starts later. That gap is a window to import before it applies.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three-way classification: borrowed, lost, or relocated</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with censoring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One row: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biggest suppliers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       CHILE    719,291,110  74,332,392</a:t>
            </a:r>
          </a:p>
          <a:p>
            <a:pPr algn="l">
              <a:lnSpc>
                <a:spcPct val="135000"/>
              </a:lnSpc>
            </a:pPr>
            <a:r>
              <a:rPr sz="1000" b="0" i="0">
                <a:solidFill>
                  <a:srgbClr val="14161A"/>
                </a:solidFill>
                <a:latin typeface="Courier New"/>
              </a:rPr>
              <a:t>74       CANADA   288,797,724  29,299,850</a:t>
            </a:r>
          </a:p>
          <a:p>
            <a:pPr algn="l">
              <a:lnSpc>
                <a:spcPct val="135000"/>
              </a:lnSpc>
            </a:pPr>
            <a:r>
              <a:rPr sz="1000" b="0" i="0">
                <a:solidFill>
                  <a:srgbClr val="14161A"/>
                </a:solidFill>
                <a:latin typeface="Courier New"/>
              </a:rPr>
              <a:t>74       GERMANY  177,404,661  15,671,176</a:t>
            </a:r>
          </a:p>
          <a:p>
            <a:pPr algn="l">
              <a:lnSpc>
                <a:spcPct val="135000"/>
              </a:lnSpc>
            </a:pPr>
            <a:r>
              <a:rPr sz="1000" b="0" i="0">
                <a:solidFill>
                  <a:srgbClr val="14161A"/>
                </a:solidFill>
                <a:latin typeface="Courier New"/>
              </a:rPr>
              <a:t>74       MEXICO    98,936,124  10,906,662</a:t>
            </a:r>
          </a:p>
          <a:p>
            <a:pPr algn="l">
              <a:lnSpc>
                <a:spcPct val="135000"/>
              </a:lnSpc>
            </a:pPr>
            <a:r>
              <a:rPr sz="1000" b="0" i="0">
                <a:solidFill>
                  <a:srgbClr val="14161A"/>
                </a:solidFill>
                <a:latin typeface="Courier New"/>
              </a:rPr>
              <a:t>74       PERU      91,039,306   9,003,463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the level tariff orders are written at</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822960"/>
          </a:xfrm>
          <a:prstGeom prst="rect">
            <a:avLst/>
          </a:prstGeom>
          <a:noFill/>
        </p:spPr>
        <p:txBody>
          <a:bodyPr wrap="square">
            <a:spAutoFit/>
          </a:bodyPr>
          <a:lstStyle/>
          <a:p>
            <a:pPr algn="l">
              <a:lnSpc>
                <a:spcPct val="112000"/>
              </a:lnSpc>
            </a:pPr>
            <a:r>
              <a:rPr sz="1700" b="0" i="0">
                <a:solidFill>
                  <a:srgbClr val="6E737C"/>
                </a:solidFill>
                <a:latin typeface="Avenir Next"/>
              </a:rPr>
              <a:t>2017 adds up to 2,340 billion dollars against a published 2.34 trillion, and all 140 months</a:t>
            </a:r>
          </a:p>
          <a:p>
            <a:pPr algn="l">
              <a:lnSpc>
                <a:spcPct val="112000"/>
              </a:lnSpc>
            </a:pPr>
            <a:r>
              <a:rPr sz="1700" b="0" i="0">
                <a:solidFill>
                  <a:srgbClr val="6E737C"/>
                </a:solidFill>
                <a:latin typeface="Avenir Next"/>
              </a:rPr>
              <a:t>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Each chapter measured against its own normal range, built only from data before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4115" y="1874519"/>
            <a:ext cx="8403464" cy="3822191"/>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The typical tariff action covers about 5% of its chapter's value. A third cover under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sp>
        <p:nvSpPr>
          <p:cNvPr id="5" name="TextBox 4"/>
          <p:cNvSpPr txBox="1"/>
          <p:nvPr/>
        </p:nvSpPr>
        <p:spPr>
          <a:xfrm>
            <a:off x="822960" y="19202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Built and checked</a:t>
            </a:r>
          </a:p>
        </p:txBody>
      </p:sp>
      <p:sp>
        <p:nvSpPr>
          <p:cNvPr id="6" name="TextBox 5"/>
          <p:cNvSpPr txBox="1"/>
          <p:nvPr/>
        </p:nvSpPr>
        <p:spPr>
          <a:xfrm>
            <a:off x="822960" y="23774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140 months at the level tariffs are written, reconciled against published totals.</a:t>
            </a:r>
          </a:p>
        </p:txBody>
      </p:sp>
      <p:sp>
        <p:nvSpPr>
          <p:cNvPr id="7" name="TextBox 6"/>
          <p:cNvSpPr txBox="1"/>
          <p:nvPr/>
        </p:nvSpPr>
        <p:spPr>
          <a:xfrm>
            <a:off x="822960" y="28346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A detector, and its limits</a:t>
            </a:r>
          </a:p>
        </p:txBody>
      </p:sp>
      <p:sp>
        <p:nvSpPr>
          <p:cNvPr id="8" name="TextBox 7"/>
          <p:cNvSpPr txBox="1"/>
          <p:nvPr/>
        </p:nvSpPr>
        <p:spPr>
          <a:xfrm>
            <a:off x="822960" y="32918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It finds unusual months. It cannot tell a tariff from a price shock.</a:t>
            </a:r>
          </a:p>
        </p:txBody>
      </p:sp>
      <p:sp>
        <p:nvSpPr>
          <p:cNvPr id="9" name="TextBox 8"/>
          <p:cNvSpPr txBox="1"/>
          <p:nvPr/>
        </p:nvSpPr>
        <p:spPr>
          <a:xfrm>
            <a:off x="822960" y="3749039"/>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134 tariff actions, with the products behind each one</a:t>
            </a:r>
          </a:p>
        </p:txBody>
      </p:sp>
      <p:sp>
        <p:nvSpPr>
          <p:cNvPr id="10" name="TextBox 9"/>
          <p:cNvSpPr txBox="1"/>
          <p:nvPr/>
        </p:nvSpPr>
        <p:spPr>
          <a:xfrm>
            <a:off x="822960" y="42062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Corrected dates, and the 8-digit product lists.</a:t>
            </a:r>
          </a:p>
        </p:txBody>
      </p:sp>
      <p:sp>
        <p:nvSpPr>
          <p:cNvPr id="11" name="TextBox 10"/>
          <p:cNvSpPr txBox="1"/>
          <p:nvPr/>
        </p:nvSpPr>
        <p:spPr>
          <a:xfrm>
            <a:off x="822960" y="46634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measure it</a:t>
            </a:r>
          </a:p>
        </p:txBody>
      </p:sp>
      <p:sp>
        <p:nvSpPr>
          <p:cNvPr id="12" name="TextBox 11"/>
          <p:cNvSpPr txBox="1"/>
          <p:nvPr/>
        </p:nvSpPr>
        <p:spPr>
          <a:xfrm>
            <a:off x="822960" y="51206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Within product, across origins.</a:t>
            </a:r>
          </a:p>
        </p:txBody>
      </p:sp>
      <p:sp>
        <p:nvSpPr>
          <p:cNvPr id="13" name="TextBox 12"/>
          <p:cNvSpPr txBox="1"/>
          <p:nvPr/>
        </p:nvSpPr>
        <p:spPr>
          <a:xfrm>
            <a:off x="822960" y="55778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know it is real</a:t>
            </a:r>
          </a:p>
        </p:txBody>
      </p:sp>
      <p:sp>
        <p:nvSpPr>
          <p:cNvPr id="14" name="TextBox 13"/>
          <p:cNvSpPr txBox="1"/>
          <p:nvPr/>
        </p:nvSpPr>
        <p:spPr>
          <a:xfrm>
            <a:off x="822960" y="60350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Every estimate against a placebo. Three methods have already failed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2,792 Federal Register documents reviewed, 134 are real tariff actions.</a:t>
            </a:r>
          </a:p>
          <a:p>
            <a:pPr algn="l">
              <a:lnSpc>
                <a:spcPct val="112000"/>
              </a:lnSpc>
            </a:pPr>
            <a:r>
              <a:rPr sz="1700" b="0" i="0">
                <a:solidFill>
                  <a:srgbClr val="6E737C"/>
                </a:solidFill>
                <a:latin typeface="Avenir Next"/>
              </a:rPr>
              <a:t>Median gap from announcement to start date is 8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Copper against its own expected range.</a:t>
            </a:r>
          </a:p>
          <a:p>
            <a:pPr algn="l">
              <a:lnSpc>
                <a:spcPct val="112000"/>
              </a:lnSpc>
            </a:pPr>
            <a:r>
              <a:rPr sz="1700" b="0" i="0">
                <a:solidFill>
                  <a:srgbClr val="6E737C"/>
                </a:solidFill>
                <a:latin typeface="Avenir Next"/>
              </a:rPr>
              <a:t>The expected line uses only data from before the tariff.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