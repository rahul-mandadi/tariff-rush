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0:29   |   clock at end 0:29</a:t>
            </a:r>
          </a:p>
          <a:p>
            <a:r>
              <a:t>==========================================================</a:t>
            </a:r>
          </a:p>
          <a:p>
            <a:r>
              <a:t>SAY THIS:</a:t>
            </a:r>
          </a:p>
          <a:p/>
          <a:p>
            <a:r>
              <a:t>Hi everyone. I'm Rahul, this is Raunak, and our project is called Borrowed or Real.</a:t>
            </a:r>
          </a:p>
          <a:p/>
          <a:p>
            <a:r>
              <a:t>It's about what happens to imports when the US announces a tariff. The question is in the title.</a:t>
            </a:r>
          </a:p>
          <a:p>
            <a:r>
              <a:t>Imports drop after a tariff starts, and we want to know whether the goods just arrived early, or</a:t>
            </a:r>
          </a:p>
          <a:p>
            <a:r>
              <a:t>whether the business left for good.</a:t>
            </a:r>
          </a:p>
          <a:p/>
          <a:p>
            <a:r>
              <a:t>I'll take the first four slides.</a:t>
            </a:r>
          </a:p>
          <a:p/>
          <a:p>
            <a:r>
              <a:t>==========================================================</a:t>
            </a:r>
          </a:p>
          <a:p>
            <a:r>
              <a:t>HOW TO SAY IT: Look up, not at the screen. Nobody needs the slide for this bit.</a:t>
            </a:r>
          </a:p>
          <a:p/>
          <a:p>
            <a:r>
              <a:t>==========================================================</a:t>
            </a:r>
          </a:p>
          <a:p>
            <a:r>
              <a:t>NOT SPOKEN. Only if someone asks:</a:t>
            </a:r>
          </a:p>
          <a:p/>
          <a:p>
            <a:r>
              <a:t>Q: So is there a rush?</a:t>
            </a:r>
          </a:p>
          <a:p>
            <a:r>
              <a:t>A: We have the data and the product level matching to answer it now. The product group version of the question was unanswerable, for the reason on slide 7.</a:t>
            </a:r>
          </a:p>
          <a:p/>
          <a:p>
            <a:r>
              <a:t>Q: Who exactly is the customer?</a:t>
            </a:r>
          </a:p>
          <a:p>
            <a:r>
              <a:t>A: Whoever is exposed to one country rather than to total volume: an importer requalifying a supplier, a lender behind either side, a carrier running that route. We are still testing which the data serves best. An earlier version of this project named port and terminal operators; we tested that and dropped it, because displaced volume arrives from a different country through much the same US customs districts.</a:t>
            </a:r>
          </a:p>
          <a:p/>
          <a:p>
            <a:r>
              <a:t>Q: Five percent of what, exactly?</a:t>
            </a:r>
          </a:p>
          <a:p>
            <a:r>
              <a:t>A: The median over 1,350 action and product group pairs. Per action the median is 1.3 percent, so the slide is the conservative version.</a:t>
            </a:r>
          </a:p>
          <a:p/>
          <a:p>
            <a:r>
              <a:t>Q: What were the other two reasons?</a:t>
            </a:r>
          </a:p>
          <a:p>
            <a:r>
              <a:t>A: Our announcement dates are mostly implementing notices, so the median official window is nine days and there is almost no anticipation period left in the data. That is what the copper story answers: the rush runs on news, not on documents. And the partner dimension was collapsed, which the across-origins design fixes.</a:t>
            </a:r>
          </a:p>
          <a:p/>
          <a:p>
            <a:r>
              <a:t>Q: Your copper chart recovers, so what is the problem?</a:t>
            </a:r>
          </a:p>
          <a:p>
            <a:r>
              <a:t>A: Correct, and we are not claiming copper proves anything. In tonnage it goes 293 thousand tonnes in July 2025, down to 93 thousand in November, back to 245 thousand by August 2026. One product, one event. It is on slide 2 to explain front-loading.</a:t>
            </a:r>
          </a:p>
          <a:p/>
          <a:p>
            <a:r>
              <a:t>Q: Why not just watch the data and react?</a:t>
            </a:r>
          </a:p>
          <a:p>
            <a:r>
              <a:t>A: That is slide 3. The first usable data lands about five weeks after the month closes, and the decision is on announcement day.</a:t>
            </a:r>
          </a:p>
          <a:p/>
          <a:p>
            <a:r>
              <a:t>Q: What is your data science problem, in technical terms?</a:t>
            </a:r>
          </a:p>
          <a:p>
            <a:r>
              <a:t>A: Classification for whether a surge occurs, regression for how large, and duration analysis with right-censoring for how long the aftermath lasts.</a:t>
            </a:r>
          </a:p>
          <a:p/>
          <a:p>
            <a:r>
              <a:t>==========================================================</a:t>
            </a:r>
          </a:p>
          <a:p>
            <a:r>
              <a:t>BACKGROUND, not for saying out loud:</a:t>
            </a:r>
          </a:p>
          <a:p/>
          <a:p>
            <a:r>
              <a:t>SPEAKER SPLIT: RAHUL takes slides 1 to 4. RAUNAK takes slides 5 to 8.</a:t>
            </a:r>
          </a:p>
          <a:p>
            <a:r>
              <a:t>The rubric requires both of them to speak, so neither half is optional.</a:t>
            </a:r>
          </a:p>
          <a:p>
            <a:r>
              <a:t>Eight slides, UNDER 10 MINUTES. Slide 7 needs the most time; 1 and 4 the least.</a:t>
            </a:r>
          </a:p>
          <a:p>
            <a:r>
              <a:t>slides/SCRIPT.md is written to 9:03 measured, which is the whole budget. Do not ad-lib.</a:t>
            </a:r>
          </a:p>
          <a:p>
            <a:r>
              <a:t>Slides 9, 10 and 11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1:06   |   clock at end 1:35</a:t>
            </a:r>
          </a:p>
          <a:p>
            <a:r>
              <a:t>==========================================================</a:t>
            </a:r>
          </a:p>
          <a:p>
            <a:r>
              <a:t>SAY THIS:</a:t>
            </a:r>
          </a:p>
          <a:p/>
          <a:p>
            <a:r>
              <a:t>So, tariffs don't happen overnight. They get announced, and they take effect on a named date</a:t>
            </a:r>
          </a:p>
          <a:p>
            <a:r>
              <a:t>later.</a:t>
            </a:r>
          </a:p>
          <a:p/>
          <a:p>
            <a:r>
              <a:t>Figure 1 is monthly copper imports, in dollars. Here's July 2025, when a fifty percent duty was</a:t>
            </a:r>
          </a:p>
          <a:p>
            <a:r>
              <a:t>announced. Here's August, when it started. Three weeks apart.</a:t>
            </a:r>
          </a:p>
          <a:p/>
          <a:p>
            <a:r>
              <a:t>But look at what the line does. It doesn't wait for July. It starts climbing in February, and</a:t>
            </a:r>
          </a:p>
          <a:p>
            <a:r>
              <a:t>nearly triples by the time of the announcement. Why? Because the investigation behind that tariff</a:t>
            </a:r>
          </a:p>
          <a:p>
            <a:r>
              <a:t>was public months earlier. Everyone in the industry could see it coming.</a:t>
            </a:r>
          </a:p>
          <a:p/>
          <a:p>
            <a:r>
              <a:t>So the rush doesn't start when a tariff becomes official. It starts when it becomes likely.</a:t>
            </a:r>
          </a:p>
          <a:p/>
          <a:p>
            <a:r>
              <a:t>Then August, and it drops hard.</a:t>
            </a:r>
          </a:p>
          <a:p/>
          <a:p>
            <a:r>
              <a:t>That's front-loading. Goods that would have come in October came in June instead. Nothing got</a:t>
            </a:r>
          </a:p>
          <a:p>
            <a:r>
              <a:t>created, it just moved forward in time. We call that borrowed, because the later months pay it</a:t>
            </a:r>
          </a:p>
          <a:p>
            <a:r>
              <a:t>back.</a:t>
            </a:r>
          </a:p>
          <a:p/>
          <a:p>
            <a:r>
              <a:t>==========================================================</a:t>
            </a:r>
          </a:p>
          <a:p>
            <a:r>
              <a:t>HOW TO SAY IT: Point at the two red dashed lines when you name July and August, then sweep back along the</a:t>
            </a:r>
          </a:p>
          <a:p>
            <a:r>
              <a:t>climb when you say February. The sweep is the whole point of the slide.</a:t>
            </a:r>
          </a:p>
          <a:p/>
          <a:p>
            <a:r>
              <a:t>==========================================================</a:t>
            </a:r>
          </a:p>
          <a:p>
            <a:r>
              <a:t>BACKGROUND, not for saying out loud:</a:t>
            </a:r>
          </a:p>
          <a:p/>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a:t>
            </a:r>
          </a:p>
          <a:p/>
          <a:p>
            <a:r>
              <a:t>POINT AT THE CHART AND BE ACCURATE ABOUT IT. The rush does not wait for the announcement. Copper runs 1.25 billion in February and 3.22 in July, the month it was announced, because a Section 232 copper investigation was public long before the proclamation. The announcement-to-start gap here is three weeks; the build-up is five months. So the thing that starts the rush is the tariff becoming likely, not becoming official. That is part of why question 1 is worth asking.</a:t>
            </a:r>
          </a:p>
          <a:p/>
          <a:p>
            <a:r>
              <a:t>Then August falls to 1.74 and November to 1.06, because buyers already stocked up.</a:t>
            </a:r>
          </a:p>
          <a:p/>
          <a:p>
            <a:r>
              <a:t>DO NOT OVERSELL THE DIP. The line comes back up from December. Eighteen months of copper is one product and one event, and it is on this slide to explain the idea, not to prove anything. The measurement is slides 6 to 8.</a:t>
            </a:r>
          </a:p>
          <a:p/>
          <a:p>
            <a:r>
              <a:t>This behavior is called front-loading. That is the whole subject of the project.</a:t>
            </a:r>
          </a:p>
          <a:p/>
          <a:p>
            <a:r>
              <a:t>Define BORROWED here, out loud, because it is the title of the project: goods that would have been imported in October arrive in August instead. Nothing was created or destroyed, it just moved. If the whole dip afterwards is that, it is borrowed. If some of it never comes back, it is real. That is what we are trying to tell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1:10   |   clock at end 2:45</a:t>
            </a:r>
          </a:p>
          <a:p>
            <a:r>
              <a:t>==========================================================</a:t>
            </a:r>
          </a:p>
          <a:p>
            <a:r>
              <a:t>SAY THIS:</a:t>
            </a:r>
          </a:p>
          <a:p/>
          <a:p>
            <a:r>
              <a:t>So why does this matter?</a:t>
            </a:r>
          </a:p>
          <a:p/>
          <a:p>
            <a:r>
              <a:t>Because somebody has to make an expensive decision on announcement day, and the data they'd need</a:t>
            </a:r>
          </a:p>
          <a:p>
            <a:r>
              <a:t>doesn't exist yet.</a:t>
            </a:r>
          </a:p>
          <a:p/>
          <a:p>
            <a:r>
              <a:t>Figure 2 is that problem. Day zero, the tariff gets announced. If you're importing from the</a:t>
            </a:r>
          </a:p>
          <a:p>
            <a:r>
              <a:t>country that just got hit, you have a decision. Wait it out, or go and find a new supplier?</a:t>
            </a:r>
          </a:p>
          <a:p>
            <a:r>
              <a:t>Qualifying a new supplier takes months and real money.</a:t>
            </a:r>
          </a:p>
          <a:p/>
          <a:p>
            <a:r>
              <a:t>And it isn't just importers. A bank that lent against that trade is asking the same question. So</a:t>
            </a:r>
          </a:p>
          <a:p>
            <a:r>
              <a:t>is the carrier running that route.</a:t>
            </a:r>
          </a:p>
          <a:p/>
          <a:p>
            <a:r>
              <a:t>Day thirty, the duty takes effect.</a:t>
            </a:r>
          </a:p>
          <a:p/>
          <a:p>
            <a:r>
              <a:t>Day sixty-five is the first time official data shows what happened, because Census publishes about</a:t>
            </a:r>
          </a:p>
          <a:p>
            <a:r>
              <a:t>five weeks after the month closes.</a:t>
            </a:r>
          </a:p>
          <a:p/>
          <a:p>
            <a:r>
              <a:t>So by the time you've seen two bad months, the tariff's been in force for a quarter, and every one</a:t>
            </a:r>
          </a:p>
          <a:p>
            <a:r>
              <a:t>of those decisions is already made.</a:t>
            </a:r>
          </a:p>
          <a:p/>
          <a:p>
            <a:r>
              <a:t>That's the gap we're trying to close.</a:t>
            </a:r>
          </a:p>
          <a:p/>
          <a:p>
            <a:r>
              <a:t>==========================================================</a:t>
            </a:r>
          </a:p>
          <a:p>
            <a:r>
              <a:t>HOW TO SAY IT: Walk the three dots left to right as you name them. Pause on day sixty-five.</a:t>
            </a:r>
          </a:p>
          <a:p/>
          <a:p>
            <a:r>
              <a:t>==========================================================</a:t>
            </a:r>
          </a:p>
          <a:p>
            <a:r>
              <a:t>BACKGROUND, not for saying out loud:</a:t>
            </a:r>
          </a:p>
          <a:p/>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RAHUL   |   this slide 0:51   |   clock at end 3:36</a:t>
            </a:r>
          </a:p>
          <a:p>
            <a:r>
              <a:t>==========================================================</a:t>
            </a:r>
          </a:p>
          <a:p>
            <a:r>
              <a:t>SAY THIS:</a:t>
            </a:r>
          </a:p>
          <a:p/>
          <a:p>
            <a:r>
              <a:t>So we turned that into three questions, and they're on the slide.</a:t>
            </a:r>
          </a:p>
          <a:p/>
          <a:p>
            <a:r>
              <a:t>One, will there be a rush and how big. Classification, then regression.</a:t>
            </a:r>
          </a:p>
          <a:p/>
          <a:p>
            <a:r>
              <a:t>Two, what happens after the duty starts. This is the hard one, and it's our title. Either the</a:t>
            </a:r>
          </a:p>
          <a:p>
            <a:r>
              <a:t>goods were borrowed and come back, or the demand was lost for good, or the same goods now come</a:t>
            </a:r>
          </a:p>
          <a:p>
            <a:r>
              <a:t>from a different country.</a:t>
            </a:r>
          </a:p>
          <a:p/>
          <a:p>
            <a:r>
              <a:t>Three, how long it lasts. That's a duration problem, because some are still running at the end of</a:t>
            </a:r>
          </a:p>
          <a:p>
            <a:r>
              <a:t>our data.</a:t>
            </a:r>
          </a:p>
          <a:p/>
          <a:p>
            <a:r>
              <a:t>Today is about our data and its limits, not results. But we found something the hard way, and</a:t>
            </a:r>
          </a:p>
          <a:p>
            <a:r>
              <a:t>Raunak's going to take you through it.</a:t>
            </a:r>
          </a:p>
          <a:p/>
          <a:p>
            <a:r>
              <a:t>Raunak.</a:t>
            </a:r>
          </a:p>
          <a:p/>
          <a:p>
            <a:r>
              <a:t>==========================================================</a:t>
            </a:r>
          </a:p>
          <a:p>
            <a:r>
              <a:t>HOW TO SAY IT: Do not read the sub-lines under each question, they are already on the slide.</a:t>
            </a:r>
          </a:p>
          <a:p/>
          <a:p>
            <a:r>
              <a:t>==========================================================</a:t>
            </a:r>
          </a:p>
          <a:p>
            <a:r>
              <a:t>BACKGROUND, not for saying out loud:</a:t>
            </a:r>
          </a:p>
          <a:p/>
          <a:p>
            <a:r>
              <a:t>THE ANALYTIC PROBLEM. Short, it is a signpost.</a:t>
            </a:r>
          </a:p>
          <a:p/>
          <a:p>
            <a:r>
              <a:t>Question 1 is the rush. Question 2 is what the drop afterwards actually means, which is the hard one: borrowed means the goods arrive early and the dip is just payback, lost means that demand never comes back, and bought from somewhere else means the same goods arrive from a different country. Question 3 is how long it lasts.</a:t>
            </a:r>
          </a:p>
          <a:p/>
          <a:p>
            <a:r>
              <a:t>Say plainly that this presentation is the data and its limits, not answers yet.</a:t>
            </a:r>
          </a:p>
          <a:p/>
          <a:p>
            <a:r>
              <a:t>RAHUL HANDS OVER HERE. Say Raunak's name out loud so the switch is clean.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1:31   |   clock at end 5:08</a:t>
            </a:r>
          </a:p>
          <a:p>
            <a:r>
              <a:t>==========================================================</a:t>
            </a:r>
          </a:p>
          <a:p>
            <a:r>
              <a:t>SAY THIS:</a:t>
            </a:r>
          </a:p>
          <a:p/>
          <a:p>
            <a:r>
              <a:t>Thanks Rahul. Two data sources, both free and public.</a:t>
            </a:r>
          </a:p>
          <a:p/>
          <a:p>
            <a:r>
              <a:t>Figure 3 on the left is US Census trade data, every month from January 2015 to August 2026. 140</a:t>
            </a:r>
          </a:p>
          <a:p>
            <a:r>
              <a:t>months, about 15.9 million rows. The last bar is grey because 2026 is only eight months so far.</a:t>
            </a:r>
          </a:p>
          <a:p/>
          <a:p>
            <a:r>
              <a:t>Table 1 on the right shows what one row is. One product, one country, one month. This product</a:t>
            </a:r>
          </a:p>
          <a:p>
            <a:r>
              <a:t>code, from Chile, March 2025, 715 million dollars and about 74 million kilograms.</a:t>
            </a:r>
          </a:p>
          <a:p/>
          <a:p>
            <a:r>
              <a:t>Now look at that first column. Those are eight digit codes, and we pull our data at ten digits.</a:t>
            </a:r>
          </a:p>
          <a:p>
            <a:r>
              <a:t>Here's why. A tariff order doesn't say "copper". It lists specific eight digit codes. And ten</a:t>
            </a:r>
          </a:p>
          <a:p>
            <a:r>
              <a:t>digits sit inside eight, so we can match a tariff to exactly the products it names instead of</a:t>
            </a:r>
          </a:p>
          <a:p>
            <a:r>
              <a:t>guessing.</a:t>
            </a:r>
          </a:p>
          <a:p/>
          <a:p>
            <a:r>
              <a:t>How do we know the data's right? Add up 2017 and we get two point three four trillion dollars. The</a:t>
            </a:r>
          </a:p>
          <a:p>
            <a:r>
              <a:t>published figure is two point three four trillion. And all 140 months check against a separate</a:t>
            </a:r>
          </a:p>
          <a:p>
            <a:r>
              <a:t>total the API gives us.</a:t>
            </a:r>
          </a:p>
          <a:p/>
          <a:p>
            <a:r>
              <a:t>Second source is the Federal Register. We went through nearly two thousand eight hundred</a:t>
            </a:r>
          </a:p>
          <a:p>
            <a:r>
              <a:t>documents, and a hundred and thirty four of them are real tariff actions.</a:t>
            </a:r>
          </a:p>
          <a:p/>
          <a:p>
            <a:r>
              <a:t>==========================================================</a:t>
            </a:r>
          </a:p>
          <a:p>
            <a:r>
              <a:t>HOW TO SAY IT: Point left for Figure 3, then right for Table 1. Say the figure numbers out loud.</a:t>
            </a:r>
          </a:p>
          <a:p/>
          <a:p>
            <a:r>
              <a:t>==========================================================</a:t>
            </a:r>
          </a:p>
          <a:p>
            <a:r>
              <a:t>BACKGROUND, not for saying out loud:</a:t>
            </a:r>
          </a:p>
          <a:p/>
          <a:p>
            <a:r>
              <a:t>THE DATA. RAUNAK STARTS HERE. Two things on this slide, go left then right.</a:t>
            </a:r>
          </a:p>
          <a:p/>
          <a:p>
            <a:r>
              <a:t>Left: monthly US imports from the Census Bureau, free and public, 140 months.</a:t>
            </a:r>
          </a:p>
          <a:p/>
          <a:p>
            <a:r>
              <a:t>Right: what a row actually is. One 8-digit product, one country, one month. Chapter 74 is copper; inside it are 88 separate 8-digit lines in that month alone, and a tariff names lines, not chapters.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7.</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1:22   |   clock at end 6:30</a:t>
            </a:r>
          </a:p>
          <a:p>
            <a:r>
              <a:t>==========================================================</a:t>
            </a:r>
          </a:p>
          <a:p>
            <a:r>
              <a:t>SAY THIS:</a:t>
            </a:r>
          </a:p>
          <a:p/>
          <a:p>
            <a:r>
              <a:t>The first thing we tried was to find the months that look weird.</a:t>
            </a:r>
          </a:p>
          <a:p/>
          <a:p>
            <a:r>
              <a:t>For each product group, we used the earlier years to work out what it would normally have done.</a:t>
            </a:r>
          </a:p>
          <a:p>
            <a:r>
              <a:t>Then we drew a band around that for ordinary month to month wobble. Anything outside the band</a:t>
            </a:r>
          </a:p>
          <a:p>
            <a:r>
              <a:t>counts as unusual.</a:t>
            </a:r>
          </a:p>
          <a:p/>
          <a:p>
            <a:r>
              <a:t>Figure 4 ranks the ten groups that went furthest outside their own normal range in 2025. The scale</a:t>
            </a:r>
          </a:p>
          <a:p>
            <a:r>
              <a:t>along the bottom is how many times outside the band, so one is right at the edge.</a:t>
            </a:r>
          </a:p>
          <a:p/>
          <a:p>
            <a:r>
              <a:t>Some look like tariff stories. Organic chemicals and pharmaceuticals were both under open tariff</a:t>
            </a:r>
          </a:p>
          <a:p>
            <a:r>
              <a:t>threat in 2025.</a:t>
            </a:r>
          </a:p>
          <a:p/>
          <a:p>
            <a:r>
              <a:t>But look at the red ones. Silk is only about 55 million dollars a year, so almost any month looks</a:t>
            </a:r>
          </a:p>
          <a:p>
            <a:r>
              <a:t>extreme. And cocoa's up there because cocoa prices roughly tripled after bad harvests in West</a:t>
            </a:r>
          </a:p>
          <a:p>
            <a:r>
              <a:t>Africa. We measure in dollars, so a price spike looks exactly like a surge in volume.</a:t>
            </a:r>
          </a:p>
          <a:p/>
          <a:p>
            <a:r>
              <a:t>So the detector finds unusual months, but it has no idea why. It can't tell a tariff from a bad</a:t>
            </a:r>
          </a:p>
          <a:p>
            <a:r>
              <a:t>harvest. That's the next slide.</a:t>
            </a:r>
          </a:p>
          <a:p/>
          <a:p>
            <a:r>
              <a:t>==========================================================</a:t>
            </a:r>
          </a:p>
          <a:p>
            <a:r>
              <a:t>HOW TO SAY IT: Point at the bottom axis when you explain the scale, then at the red bars.</a:t>
            </a:r>
          </a:p>
          <a:p/>
          <a:p>
            <a:r>
              <a:t>==========================================================</a:t>
            </a:r>
          </a:p>
          <a:p>
            <a:r>
              <a:t>BACKGROUND, not for saying out loud:</a:t>
            </a:r>
          </a:p>
          <a:p/>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55-million-dollar chapter, so almost any month looks extreme next to its own history. Works of art and clocks are small and lumpy.</a:t>
            </a:r>
          </a:p>
          <a:p/>
          <a:p>
            <a:r>
              <a:t>Cocoa is the one to dwell on. It is on the list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1:44   |   clock at end 8:15</a:t>
            </a:r>
          </a:p>
          <a:p>
            <a:r>
              <a:t>==========================================================</a:t>
            </a:r>
          </a:p>
          <a:p>
            <a:r>
              <a:t>SAY THIS:</a:t>
            </a:r>
          </a:p>
          <a:p/>
          <a:p>
            <a:r>
              <a:t>A tariff order never says "chapter 74, copper". It points at a list of specific eight digit codes,</a:t>
            </a:r>
          </a:p>
          <a:p>
            <a:r>
              <a:t>usually in a separate legal notice. So if you haven't read those lists, there's only one thing you</a:t>
            </a:r>
          </a:p>
          <a:p>
            <a:r>
              <a:t>can do. You mark a whole product group as tariffed whenever any action touches anything inside it.</a:t>
            </a:r>
          </a:p>
          <a:p/>
          <a:p>
            <a:r>
              <a:t>That's what we did. And we got nothing.</a:t>
            </a:r>
          </a:p>
          <a:p/>
          <a:p>
            <a:r>
              <a:t>So we went and read the lists. Nine thousand and eighty three eight digit codes.</a:t>
            </a:r>
          </a:p>
          <a:p/>
          <a:p>
            <a:r>
              <a:t>Figure 5 is what we found. Each bar counts a tariff action paired with a product group. The</a:t>
            </a:r>
          </a:p>
          <a:p>
            <a:r>
              <a:t>typical one covers about five percent of that group's value, and the red on the left is a third of</a:t>
            </a:r>
          </a:p>
          <a:p>
            <a:r>
              <a:t>them covering less than one percent.</a:t>
            </a:r>
          </a:p>
          <a:p/>
          <a:p>
            <a:r>
              <a:t>Copper again. Ten actions touch copper. Three cover more than half of it. The other seven cover</a:t>
            </a:r>
          </a:p>
          <a:p>
            <a:r>
              <a:t>less than one percent.</a:t>
            </a:r>
          </a:p>
          <a:p/>
          <a:p>
            <a:r>
              <a:t>And that's why we got nothing. If you label a product group tariffed when ninety-five percent of</a:t>
            </a:r>
          </a:p>
          <a:p>
            <a:r>
              <a:t>it wasn't, the real reaction in that five percent gets averaged away by everything that didn't</a:t>
            </a:r>
          </a:p>
          <a:p>
            <a:r>
              <a:t>move. The zero wasn't telling us about the world. It was telling us about our ruler.</a:t>
            </a:r>
          </a:p>
          <a:p/>
          <a:p>
            <a:r>
              <a:t>It was one of three reasons, and it's the one that generalizes.</a:t>
            </a:r>
          </a:p>
          <a:p/>
          <a:p>
            <a:r>
              <a:t>The fix is to work at eight digits, where a tariff either names a product or it doesn't.</a:t>
            </a:r>
          </a:p>
          <a:p>
            <a:r>
              <a:t>Everything from here is built that way.</a:t>
            </a:r>
          </a:p>
          <a:p/>
          <a:p>
            <a:r>
              <a:t>==========================================================</a:t>
            </a:r>
          </a:p>
          <a:p>
            <a:r>
              <a:t>HOW TO SAY IT: Slow down. This is the slide that matters most. Point at the red bars on the left.</a:t>
            </a:r>
          </a:p>
          <a:p/>
          <a:p>
            <a:r>
              <a:t>==========================================================</a:t>
            </a:r>
          </a:p>
          <a:p>
            <a:r>
              <a:t>BACKGROUND, not for saying out loud:</a:t>
            </a:r>
          </a:p>
          <a:p/>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surcharge codes. Say 'surcharge codes' and not 'actions', because 134 is the number of Federal Register actions and the two are not the same thing.</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The null was our ruler, not the world.</a:t>
            </a:r>
          </a:p>
          <a:p/>
          <a:p>
            <a:r>
              <a:t>SAY 'ONE OF THREE REASONS'. coverage/FINDINGS.md lists three causes of that null and ranks this one second. The first is that our announcement dates are mostly implementing notices, so the median official window is nine days and there is barely any anticipation period left in the data; the copper story on slide 2 is the answer to that, since the rush runs on news rather than on documents. The third is that the partner dimension was collapsed, which the across-origins design on slide 8 fixes. Dilution is the one that generalizes beyond us, which is why it is the one on the slide. Do not call it the reason.</a:t>
            </a:r>
          </a:p>
          <a:p/>
          <a:p>
            <a:r>
              <a:t>The fix is to work at the 8-digit level, where a tariff either names a product or it does not. Everything after this is built that way.</a:t>
            </a:r>
          </a:p>
          <a:p/>
          <a:p>
            <a:r>
              <a:t>-- NARRATE IT THROUGH COPPER, which they already know from slides 2, 5 and 6 --</a:t>
            </a:r>
          </a:p>
          <a:p>
            <a:r>
              <a:t>The copper line is on the slide now, so do not just read it. Read it once, then add the part that is not up there:</a:t>
            </a:r>
          </a:p>
          <a:p>
            <a:r>
              <a:t>Ten separate tariff actions touch copper, chapter 74. Three of them cover more than half the chapter: 95%, 59%, 59%. The other seven cover under 1%, and several are civil-aircraft carve-outs that name a single product line. The median action touching copper covers less than a tenth of one percent of it.</a:t>
            </a:r>
          </a:p>
          <a:p>
            <a:r>
              <a:t>So if you mark copper as tariffed whenever any action fires, seven times out of ten you have flagged an entire chapter over something touching less than one percent of it. That is what the chart shows, across all 1,350 action-chapter pairs.</a:t>
            </a:r>
          </a:p>
          <a:p/>
          <a:p>
            <a:r>
              <a:t>IF ASKED '5% of what exactly': the median is taken over the 1,350 action-chapter pairs. Collapse it to one number per action and the median is 1.3%, so the slide is the conservative version.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RAUNAK   |   this slide 1:30   |   clock at end 9:45</a:t>
            </a:r>
          </a:p>
          <a:p>
            <a:r>
              <a:t>==========================================================</a:t>
            </a:r>
          </a:p>
          <a:p>
            <a:r>
              <a:t>SAY THIS:</a:t>
            </a:r>
          </a:p>
          <a:p/>
          <a:p>
            <a:r>
              <a:t>Built and checked. We've got 140 months of trade at the level tariffs are actually written, and it</a:t>
            </a:r>
          </a:p>
          <a:p>
            <a:r>
              <a:t>reconciles against published totals.</a:t>
            </a:r>
          </a:p>
          <a:p/>
          <a:p>
            <a:r>
              <a:t>We've got a detector that finds unusual months, and we're upfront that on its own it can't tell a</a:t>
            </a:r>
          </a:p>
          <a:p>
            <a:r>
              <a:t>tariff from a price shock.</a:t>
            </a:r>
          </a:p>
          <a:p/>
          <a:p>
            <a:r>
              <a:t>134 tariff actions, with the real product lists behind each one.</a:t>
            </a:r>
          </a:p>
          <a:p/>
          <a:p>
            <a:r>
              <a:t>How we'll measure it, and this is what fixes the detector. Instead of comparing a product to its</a:t>
            </a:r>
          </a:p>
          <a:p>
            <a:r>
              <a:t>own past, we compare one product across countries in the same month. A price shock moves every</a:t>
            </a:r>
          </a:p>
          <a:p>
            <a:r>
              <a:t>country together so it cancels out. A tariff hits one country, so it doesn't.</a:t>
            </a:r>
          </a:p>
          <a:p/>
          <a:p>
            <a:r>
              <a:t>How we'll know it's real. Every estimate gets paired with a placebo, which is the identical</a:t>
            </a:r>
          </a:p>
          <a:p>
            <a:r>
              <a:t>calculation with every event shifted back two years. If it doesn't separate from its placebo, we</a:t>
            </a:r>
          </a:p>
          <a:p>
            <a:r>
              <a:t>don't report it. That's already killed three methods we built.</a:t>
            </a:r>
          </a:p>
          <a:p/>
          <a:p>
            <a:r>
              <a:t>Next, question one first, then two and three for the final report.</a:t>
            </a:r>
          </a:p>
          <a:p/>
          <a:p>
            <a:r>
              <a:t>And the takeaway, even if you never touch tariff data. Don't measure this at product group level.</a:t>
            </a:r>
          </a:p>
          <a:p>
            <a:r>
              <a:t>The typical action touches five percent, so a real effect averages away to nothing.</a:t>
            </a:r>
          </a:p>
          <a:p/>
          <a:p>
            <a:r>
              <a:t>Happy to take questions.</a:t>
            </a:r>
          </a:p>
          <a:p/>
          <a:p>
            <a:r>
              <a:t>==========================================================</a:t>
            </a:r>
          </a:p>
          <a:p>
            <a:r>
              <a:t>HOW TO SAY IT: Stand still and let the list do the work. Slow down for the last two lines.</a:t>
            </a:r>
          </a:p>
          <a:p/>
          <a:p>
            <a:r>
              <a:t>==========================================================</a:t>
            </a:r>
          </a:p>
          <a:p>
            <a:r>
              <a:t>BACKGROUND, not for saying out loud:</a:t>
            </a:r>
          </a:p>
          <a:p/>
          <a:p>
            <a:r>
              <a:t>DISCUSSION AND NEXT STEPS.</a:t>
            </a:r>
          </a:p>
          <a:p/>
          <a:p>
            <a:r>
              <a:t>Be straight that this is data and limits, not results. Results come next.</a:t>
            </a:r>
          </a:p>
          <a:p/>
          <a:p>
            <a:r>
              <a:t>The fourth pair is the one to land, because it closes the problem slide 6 opened. Slide 6 said the detector cannot tell a tariff from a price shock. The answer is to stop comparing a product to its own past and start comparing it across origins in the same month: cocoa got more expensive for everyone, so every origin moves together and the comparison cancels it out. A tariff hits one origin, so it does not cancel. That one sentence is the method of the whole project.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about prior work.</a:t>
            </a:r>
          </a:p>
          <a:p/>
          <a:p>
            <a:r>
              <a:t>The two that matter: [1] is the frontier paper on this exact shock and it works at HS-10, stating that the 2018 tariff increases were 'predominantly set at the 8-digit Harmonized System level'. That is why we pull at HS10 and analyse at HS8.</a:t>
            </a:r>
          </a:p>
          <a:p/>
          <a:p>
            <a:r>
              <a:t>[2] is USITC's own work estimating the same elasticity at HTS 2, 4, 6 and 8 digits and finding that estimates from aggregated data are smaller, which they attribute to heterogeneity bias. Our 5% number is the specific version of that general result.</a:t>
            </a:r>
          </a:p>
          <a:p/>
          <a:p>
            <a:r>
              <a:t>[4] faced the same problem and solved it the way we did: a continuous value-weighted coverage share instead of a binary tariffed/not flag.</a:t>
            </a:r>
          </a:p>
          <a:p/>
          <a:p>
            <a:r>
              <a:t>[3] is the general statement of the same aggregation problem outside tariffs. [5] is the closest prior work on front-loading itself: trade responds to tariff changes that are announced in advance, which is the behaviour slide 2 shows. [6] is the decomposition behind the normal range on slide 6 and backup slide 10.</a:t>
            </a:r>
          </a:p>
          <a:p/>
          <a:p>
            <a:r>
              <a:t>Worth saying plainly if asked: nobody appears to have published the specific diagnostic we ran, which is to assign treatment at chapter level when the tariff names HS8 and measure how much of the chapter that actually covers. The general attenuation result is known; the number for US tariff actions is ours.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4" name="TextBox 3"/>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5" name="TextBox 4"/>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6" name="TextBox 5"/>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7" name="TextBox 6"/>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looking for a new supplier, lenders exposed to a single</a:t>
            </a:r>
          </a:p>
          <a:p>
            <a:pPr algn="l">
              <a:lnSpc>
                <a:spcPct val="100000"/>
              </a:lnSpc>
            </a:pPr>
            <a:r>
              <a:rPr sz="1300" b="0" i="0">
                <a:solidFill>
                  <a:srgbClr val="6E737C"/>
                </a:solidFill>
                <a:latin typeface="Avenir Next"/>
              </a:rPr>
              <a:t>origin, carriers serving an affected trade lane</a:t>
            </a:r>
          </a:p>
        </p:txBody>
      </p:sp>
      <p:sp>
        <p:nvSpPr>
          <p:cNvPr id="8" name="TextBox 7"/>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Announced July 2025, in force from August.</a:t>
            </a:r>
          </a:p>
          <a:p>
            <a:pPr algn="l">
              <a:lnSpc>
                <a:spcPct val="112000"/>
              </a:lnSpc>
            </a:pPr>
            <a:r>
              <a:rPr sz="1700" b="0" i="0">
                <a:solidFill>
                  <a:srgbClr val="6E737C"/>
                </a:solidFill>
                <a:latin typeface="Avenir Next"/>
              </a:rPr>
              <a:t>Imports had been climbing since February, because the duty was expected.</a:t>
            </a:r>
          </a:p>
          <a:p>
            <a:pPr algn="l">
              <a:lnSpc>
                <a:spcPct val="112000"/>
              </a:lnSpc>
            </a:pPr>
            <a:r>
              <a:rPr sz="1700" b="0" i="0">
                <a:solidFill>
                  <a:srgbClr val="6E737C"/>
                </a:solidFill>
                <a:latin typeface="Avenir Next"/>
              </a:rPr>
              <a:t>Goods pulled forward are borrowed from later months, the question in our title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borrowed back, lost for good, or bought from somewhere else</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counting episodes still running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Two separate 8-digit lines.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74031100  CHILE    715,897,592  73,977,447</a:t>
            </a:r>
          </a:p>
          <a:p>
            <a:pPr algn="l">
              <a:lnSpc>
                <a:spcPct val="135000"/>
              </a:lnSpc>
            </a:pPr>
            <a:r>
              <a:rPr sz="1000" b="0" i="0">
                <a:solidFill>
                  <a:srgbClr val="14161A"/>
                </a:solidFill>
                <a:latin typeface="Courier New"/>
              </a:rPr>
              <a:t>74031100  CANADA   118,144,886  11,854,813</a:t>
            </a:r>
          </a:p>
          <a:p>
            <a:pPr algn="l">
              <a:lnSpc>
                <a:spcPct val="135000"/>
              </a:lnSpc>
            </a:pPr>
            <a:r>
              <a:rPr sz="1000" b="0" i="0">
                <a:solidFill>
                  <a:srgbClr val="14161A"/>
                </a:solidFill>
                <a:latin typeface="Courier New"/>
              </a:rPr>
              <a:t>74031100  GERMANY   93,060,459  10,000,049</a:t>
            </a:r>
          </a:p>
          <a:p>
            <a:pPr algn="l">
              <a:lnSpc>
                <a:spcPct val="135000"/>
              </a:lnSpc>
            </a:pPr>
            <a:r>
              <a:rPr sz="1000" b="0" i="0">
                <a:solidFill>
                  <a:srgbClr val="14161A"/>
                </a:solidFill>
                <a:latin typeface="Courier New"/>
              </a:rPr>
              <a:t>74081160  CANADA    78,104,444   7,467,535</a:t>
            </a:r>
          </a:p>
          <a:p>
            <a:pPr algn="l">
              <a:lnSpc>
                <a:spcPct val="135000"/>
              </a:lnSpc>
            </a:pPr>
            <a:r>
              <a:rPr sz="1000" b="0" i="0">
                <a:solidFill>
                  <a:srgbClr val="14161A"/>
                </a:solidFill>
                <a:latin typeface="Courier New"/>
              </a:rPr>
              <a:t>74031100  PERU      50,457,615   5,317,013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which nest inside the 8 tariffs name</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914400"/>
          </a:xfrm>
          <a:prstGeom prst="rect">
            <a:avLst/>
          </a:prstGeom>
          <a:noFill/>
        </p:spPr>
        <p:txBody>
          <a:bodyPr wrap="square">
            <a:spAutoFit/>
          </a:bodyPr>
          <a:lstStyle/>
          <a:p>
            <a:pPr algn="l">
              <a:lnSpc>
                <a:spcPct val="110000"/>
              </a:lnSpc>
            </a:pPr>
            <a:r>
              <a:rPr sz="1600" b="0" i="0">
                <a:solidFill>
                  <a:srgbClr val="6E737C"/>
                </a:solidFill>
                <a:latin typeface="Avenir Next"/>
              </a:rPr>
              <a:t>Fig. 3   Imports we cover, by year; the grey 2026 bar is eight months, not twelve.</a:t>
            </a:r>
          </a:p>
          <a:p>
            <a:pPr algn="l">
              <a:lnSpc>
                <a:spcPct val="110000"/>
              </a:lnSpc>
            </a:pPr>
            <a:r>
              <a:rPr sz="1600" b="0" i="0">
                <a:solidFill>
                  <a:srgbClr val="6E737C"/>
                </a:solidFill>
                <a:latin typeface="Avenir Next"/>
              </a:rPr>
              <a:t>2017 adds up to 2,340 billion dollars against a published 2.34 trillion, and all 140</a:t>
            </a:r>
          </a:p>
          <a:p>
            <a:pPr algn="l">
              <a:lnSpc>
                <a:spcPct val="110000"/>
              </a:lnSpc>
            </a:pPr>
            <a:r>
              <a:rPr sz="1600" b="0" i="0">
                <a:solidFill>
                  <a:srgbClr val="6E737C"/>
                </a:solidFill>
                <a:latin typeface="Avenir Next"/>
              </a:rPr>
              <a:t>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We built a detector for unusual months. Each product chapter is measured</a:t>
            </a:r>
          </a:p>
          <a:p>
            <a:pPr algn="l">
              <a:lnSpc>
                <a:spcPct val="112000"/>
              </a:lnSpc>
            </a:pPr>
            <a:r>
              <a:rPr sz="1700" b="0" i="0">
                <a:solidFill>
                  <a:srgbClr val="6E737C"/>
                </a:solidFill>
                <a:latin typeface="Avenir Next"/>
              </a:rPr>
              <a:t>against its own normal range, built only from data before 2025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1882" y="1874519"/>
            <a:ext cx="8407929"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a:p>
            <a:pPr algn="l">
              <a:lnSpc>
                <a:spcPct val="112000"/>
              </a:lnSpc>
            </a:pPr>
            <a:r>
              <a:rPr sz="1700" b="0" i="0">
                <a:solidFill>
                  <a:srgbClr val="6E737C"/>
                </a:solidFill>
                <a:latin typeface="Avenir Next"/>
              </a:rPr>
              <a:t>Copper, for example: ten actions touch it, and seven cover under 1% of it.</a:t>
            </a:r>
          </a:p>
          <a:p>
            <a:pPr algn="l">
              <a:lnSpc>
                <a:spcPct val="112000"/>
              </a:lnSpc>
            </a:pPr>
            <a:r>
              <a:rPr sz="1700" b="0" i="0">
                <a:solidFill>
                  <a:srgbClr val="6E737C"/>
                </a:solidFill>
                <a:latin typeface="Avenir Next"/>
              </a:rPr>
              <a:t>Published work measures these at 8 to 10 digits [1]; coarser data shrinks estimates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cxnSp>
        <p:nvCxnSpPr>
          <p:cNvPr id="5" name="Connector 4"/>
          <p:cNvCxnSpPr/>
          <p:nvPr/>
        </p:nvCxnSpPr>
        <p:spPr>
          <a:xfrm>
            <a:off x="685800" y="6035040"/>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163056"/>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7" name="TextBox 6"/>
          <p:cNvSpPr txBox="1"/>
          <p:nvPr/>
        </p:nvSpPr>
        <p:spPr>
          <a:xfrm>
            <a:off x="822960" y="17007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Built and checked</a:t>
            </a:r>
          </a:p>
        </p:txBody>
      </p:sp>
      <p:sp>
        <p:nvSpPr>
          <p:cNvPr id="8" name="TextBox 7"/>
          <p:cNvSpPr txBox="1"/>
          <p:nvPr/>
        </p:nvSpPr>
        <p:spPr>
          <a:xfrm>
            <a:off x="822960" y="20665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140 months at the level tariffs are written, reconciled against published totals.</a:t>
            </a:r>
          </a:p>
        </p:txBody>
      </p:sp>
      <p:sp>
        <p:nvSpPr>
          <p:cNvPr id="9" name="TextBox 8"/>
          <p:cNvSpPr txBox="1"/>
          <p:nvPr/>
        </p:nvSpPr>
        <p:spPr>
          <a:xfrm>
            <a:off x="822960" y="243230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A detector, and its limit</a:t>
            </a:r>
          </a:p>
        </p:txBody>
      </p:sp>
      <p:sp>
        <p:nvSpPr>
          <p:cNvPr id="10" name="TextBox 9"/>
          <p:cNvSpPr txBox="1"/>
          <p:nvPr/>
        </p:nvSpPr>
        <p:spPr>
          <a:xfrm>
            <a:off x="822960" y="279806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It finds unusual months. It cannot tell a tariff from a price shock.</a:t>
            </a:r>
          </a:p>
        </p:txBody>
      </p:sp>
      <p:sp>
        <p:nvSpPr>
          <p:cNvPr id="11" name="TextBox 10"/>
          <p:cNvSpPr txBox="1"/>
          <p:nvPr/>
        </p:nvSpPr>
        <p:spPr>
          <a:xfrm>
            <a:off x="822960" y="316382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134 tariff actions, with the products behind each one</a:t>
            </a:r>
          </a:p>
        </p:txBody>
      </p:sp>
      <p:sp>
        <p:nvSpPr>
          <p:cNvPr id="12" name="TextBox 11"/>
          <p:cNvSpPr txBox="1"/>
          <p:nvPr/>
        </p:nvSpPr>
        <p:spPr>
          <a:xfrm>
            <a:off x="822960" y="352958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Start dates re-read from the order texts, plus the 8-digit product lists.</a:t>
            </a:r>
          </a:p>
        </p:txBody>
      </p:sp>
      <p:sp>
        <p:nvSpPr>
          <p:cNvPr id="13" name="TextBox 12"/>
          <p:cNvSpPr txBox="1"/>
          <p:nvPr/>
        </p:nvSpPr>
        <p:spPr>
          <a:xfrm>
            <a:off x="822960" y="389534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measure it, and fix that limit</a:t>
            </a:r>
          </a:p>
        </p:txBody>
      </p:sp>
      <p:sp>
        <p:nvSpPr>
          <p:cNvPr id="14" name="TextBox 13"/>
          <p:cNvSpPr txBox="1"/>
          <p:nvPr/>
        </p:nvSpPr>
        <p:spPr>
          <a:xfrm>
            <a:off x="822960" y="426110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One product across origins: a price shock moves them all, a tariff moves one.</a:t>
            </a:r>
          </a:p>
        </p:txBody>
      </p:sp>
      <p:sp>
        <p:nvSpPr>
          <p:cNvPr id="15" name="TextBox 14"/>
          <p:cNvSpPr txBox="1"/>
          <p:nvPr/>
        </p:nvSpPr>
        <p:spPr>
          <a:xfrm>
            <a:off x="822960" y="462686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How we will know it is real</a:t>
            </a:r>
          </a:p>
        </p:txBody>
      </p:sp>
      <p:sp>
        <p:nvSpPr>
          <p:cNvPr id="16" name="TextBox 15"/>
          <p:cNvSpPr txBox="1"/>
          <p:nvPr/>
        </p:nvSpPr>
        <p:spPr>
          <a:xfrm>
            <a:off x="822960" y="499262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Every estimate against a placebo. Three methods have already failed it.</a:t>
            </a:r>
          </a:p>
        </p:txBody>
      </p:sp>
      <p:sp>
        <p:nvSpPr>
          <p:cNvPr id="17" name="TextBox 16"/>
          <p:cNvSpPr txBox="1"/>
          <p:nvPr/>
        </p:nvSpPr>
        <p:spPr>
          <a:xfrm>
            <a:off x="822960" y="5358384"/>
            <a:ext cx="10360152" cy="731520"/>
          </a:xfrm>
          <a:prstGeom prst="rect">
            <a:avLst/>
          </a:prstGeom>
          <a:noFill/>
        </p:spPr>
        <p:txBody>
          <a:bodyPr wrap="square">
            <a:spAutoFit/>
          </a:bodyPr>
          <a:lstStyle/>
          <a:p>
            <a:pPr algn="l">
              <a:lnSpc>
                <a:spcPct val="115000"/>
              </a:lnSpc>
            </a:pPr>
            <a:r>
              <a:rPr sz="1600" b="1" i="0">
                <a:solidFill>
                  <a:srgbClr val="14161A"/>
                </a:solidFill>
                <a:latin typeface="Avenir Next"/>
              </a:rPr>
              <a:t>Next</a:t>
            </a:r>
          </a:p>
        </p:txBody>
      </p:sp>
      <p:sp>
        <p:nvSpPr>
          <p:cNvPr id="18" name="TextBox 17"/>
          <p:cNvSpPr txBox="1"/>
          <p:nvPr/>
        </p:nvSpPr>
        <p:spPr>
          <a:xfrm>
            <a:off x="822960" y="5724144"/>
            <a:ext cx="10360152" cy="731520"/>
          </a:xfrm>
          <a:prstGeom prst="rect">
            <a:avLst/>
          </a:prstGeom>
          <a:noFill/>
        </p:spPr>
        <p:txBody>
          <a:bodyPr wrap="square">
            <a:spAutoFit/>
          </a:bodyPr>
          <a:lstStyle/>
          <a:p>
            <a:pPr algn="l">
              <a:lnSpc>
                <a:spcPct val="115000"/>
              </a:lnSpc>
            </a:pPr>
            <a:r>
              <a:rPr sz="1600" b="0" i="0">
                <a:solidFill>
                  <a:srgbClr val="6E737C"/>
                </a:solidFill>
                <a:latin typeface="Avenir Next"/>
              </a:rPr>
              <a:t>Question 1 first, then questions 2 and 3 for the final report.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about 9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a:t>
            </a:r>
          </a:p>
          <a:p>
            <a:pPr algn="l">
              <a:lnSpc>
                <a:spcPct val="112000"/>
              </a:lnSpc>
            </a:pPr>
            <a:r>
              <a:rPr sz="1700" b="0" i="0">
                <a:solidFill>
                  <a:srgbClr val="6E737C"/>
                </a:solidFill>
                <a:latin typeface="Avenir Next"/>
              </a:rPr>
              <a:t>tariff. Seasonal-trend decomposition, after Cleveland et al.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references.</a:t>
            </a:r>
          </a:p>
        </p:txBody>
      </p:sp>
      <p:sp>
        <p:nvSpPr>
          <p:cNvPr id="5" name="TextBox 4"/>
          <p:cNvSpPr txBox="1"/>
          <p:nvPr/>
        </p:nvSpPr>
        <p:spPr>
          <a:xfrm>
            <a:off x="685800" y="178308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[1]  Fajgelbaum, P., Goldberg, P., Kennedy, P. and Khandelwal, A. (2020). The Return to</a:t>
            </a:r>
          </a:p>
        </p:txBody>
      </p:sp>
      <p:sp>
        <p:nvSpPr>
          <p:cNvPr id="6" name="TextBox 5"/>
          <p:cNvSpPr txBox="1"/>
          <p:nvPr/>
        </p:nvSpPr>
        <p:spPr>
          <a:xfrm>
            <a:off x="685800" y="2057400"/>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Protectionism. Quarterly Journal of Economics 135(1), 1-55.</a:t>
            </a:r>
          </a:p>
        </p:txBody>
      </p:sp>
      <p:sp>
        <p:nvSpPr>
          <p:cNvPr id="7" name="TextBox 6"/>
          <p:cNvSpPr txBox="1"/>
          <p:nvPr/>
        </p:nvSpPr>
        <p:spPr>
          <a:xfrm>
            <a:off x="685800" y="2331720"/>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[2]  Schrammel, M. and Schreiber, S. (2023). How Does Data Aggregation Impact Elasticity of</a:t>
            </a:r>
          </a:p>
        </p:txBody>
      </p:sp>
      <p:sp>
        <p:nvSpPr>
          <p:cNvPr id="8" name="TextBox 7"/>
          <p:cNvSpPr txBox="1"/>
          <p:nvPr/>
        </p:nvSpPr>
        <p:spPr>
          <a:xfrm>
            <a:off x="685800" y="260603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Substitution Estimation? USITC Economics Working Paper 2023-10-B.</a:t>
            </a:r>
          </a:p>
        </p:txBody>
      </p:sp>
      <p:sp>
        <p:nvSpPr>
          <p:cNvPr id="9" name="TextBox 8"/>
          <p:cNvSpPr txBox="1"/>
          <p:nvPr/>
        </p:nvSpPr>
        <p:spPr>
          <a:xfrm>
            <a:off x="685800" y="288035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[3]  Imbs, J. and Mejean, I. (2015). Elasticity Optimism. American Economic Journal:</a:t>
            </a:r>
          </a:p>
        </p:txBody>
      </p:sp>
      <p:sp>
        <p:nvSpPr>
          <p:cNvPr id="10" name="TextBox 9"/>
          <p:cNvSpPr txBox="1"/>
          <p:nvPr/>
        </p:nvSpPr>
        <p:spPr>
          <a:xfrm>
            <a:off x="685800" y="315467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Macroeconomics 7(3), 43-83.</a:t>
            </a:r>
          </a:p>
        </p:txBody>
      </p:sp>
      <p:sp>
        <p:nvSpPr>
          <p:cNvPr id="11" name="TextBox 10"/>
          <p:cNvSpPr txBox="1"/>
          <p:nvPr/>
        </p:nvSpPr>
        <p:spPr>
          <a:xfrm>
            <a:off x="685800" y="342899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[4]  Flaaen, A. and Pierce, J. (2019). Disentangling the Effects of the 2018-2019 Tariffs on a</a:t>
            </a:r>
          </a:p>
        </p:txBody>
      </p:sp>
      <p:sp>
        <p:nvSpPr>
          <p:cNvPr id="12" name="TextBox 11"/>
          <p:cNvSpPr txBox="1"/>
          <p:nvPr/>
        </p:nvSpPr>
        <p:spPr>
          <a:xfrm>
            <a:off x="685800" y="370331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Globally Connected U.S. Manufacturing Sector. Federal Reserve FEDS 2019-086.</a:t>
            </a:r>
          </a:p>
        </p:txBody>
      </p:sp>
      <p:sp>
        <p:nvSpPr>
          <p:cNvPr id="13" name="TextBox 12"/>
          <p:cNvSpPr txBox="1"/>
          <p:nvPr/>
        </p:nvSpPr>
        <p:spPr>
          <a:xfrm>
            <a:off x="685800" y="397763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[5]  Khan, S. Y. and Khederlarian, A. (2021). How does trade respond to anticipated tariff</a:t>
            </a:r>
          </a:p>
        </p:txBody>
      </p:sp>
      <p:sp>
        <p:nvSpPr>
          <p:cNvPr id="14" name="TextBox 13"/>
          <p:cNvSpPr txBox="1"/>
          <p:nvPr/>
        </p:nvSpPr>
        <p:spPr>
          <a:xfrm>
            <a:off x="685800" y="425195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changes? Evidence from NAFTA. Journal of International Economics 133, 103538.</a:t>
            </a:r>
          </a:p>
        </p:txBody>
      </p:sp>
      <p:sp>
        <p:nvSpPr>
          <p:cNvPr id="15" name="TextBox 14"/>
          <p:cNvSpPr txBox="1"/>
          <p:nvPr/>
        </p:nvSpPr>
        <p:spPr>
          <a:xfrm>
            <a:off x="685800" y="4526279"/>
            <a:ext cx="10817352" cy="310896"/>
          </a:xfrm>
          <a:prstGeom prst="rect">
            <a:avLst/>
          </a:prstGeom>
          <a:noFill/>
        </p:spPr>
        <p:txBody>
          <a:bodyPr wrap="square">
            <a:spAutoFit/>
          </a:bodyPr>
          <a:lstStyle/>
          <a:p>
            <a:pPr algn="l">
              <a:lnSpc>
                <a:spcPct val="100000"/>
              </a:lnSpc>
            </a:pPr>
            <a:r>
              <a:rPr sz="1300" b="0" i="0">
                <a:solidFill>
                  <a:srgbClr val="14161A"/>
                </a:solidFill>
                <a:latin typeface="Avenir Next"/>
              </a:rPr>
              <a:t>[6]  Cleveland, R., Cleveland, W., McRae, J. and Terpenning, I. (1990). STL: A seasonal-trend</a:t>
            </a:r>
          </a:p>
        </p:txBody>
      </p:sp>
      <p:sp>
        <p:nvSpPr>
          <p:cNvPr id="16" name="TextBox 15"/>
          <p:cNvSpPr txBox="1"/>
          <p:nvPr/>
        </p:nvSpPr>
        <p:spPr>
          <a:xfrm>
            <a:off x="685800" y="4800599"/>
            <a:ext cx="10817352" cy="310896"/>
          </a:xfrm>
          <a:prstGeom prst="rect">
            <a:avLst/>
          </a:prstGeom>
          <a:noFill/>
        </p:spPr>
        <p:txBody>
          <a:bodyPr wrap="square">
            <a:spAutoFit/>
          </a:bodyPr>
          <a:lstStyle/>
          <a:p>
            <a:pPr algn="l">
              <a:lnSpc>
                <a:spcPct val="100000"/>
              </a:lnSpc>
            </a:pPr>
            <a:r>
              <a:rPr sz="1300" b="0" i="0">
                <a:solidFill>
                  <a:srgbClr val="6E737C"/>
                </a:solidFill>
                <a:latin typeface="Avenir Next"/>
              </a:rPr>
              <a:t>       decomposition procedure based on LOESS. Journal of Official Statistics 6(1), 3-73.</a:t>
            </a:r>
          </a:p>
        </p:txBody>
      </p:sp>
      <p:sp>
        <p:nvSpPr>
          <p:cNvPr id="17" name="TextBox 16"/>
          <p:cNvSpPr txBox="1"/>
          <p:nvPr/>
        </p:nvSpPr>
        <p:spPr>
          <a:xfrm>
            <a:off x="685800" y="5897880"/>
            <a:ext cx="10817352" cy="457200"/>
          </a:xfrm>
          <a:prstGeom prst="rect">
            <a:avLst/>
          </a:prstGeom>
          <a:noFill/>
        </p:spPr>
        <p:txBody>
          <a:bodyPr wrap="square">
            <a:spAutoFit/>
          </a:bodyPr>
          <a:lstStyle/>
          <a:p>
            <a:pPr algn="l">
              <a:lnSpc>
                <a:spcPct val="100000"/>
              </a:lnSpc>
            </a:pPr>
            <a:r>
              <a:rPr sz="1400" b="0" i="0">
                <a:solidFill>
                  <a:srgbClr val="6E737C"/>
                </a:solidFill>
                <a:latin typeface="Avenir Next"/>
              </a:rPr>
              <a:t>Data: US Census international trade API  |  Federal Register API  |  USITC Harmonized Tariff Schedule, chapter 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