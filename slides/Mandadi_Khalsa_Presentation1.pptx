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SPLIT: slides 1-4 one of us, 5-8 the other. Both must speak.</a:t>
            </a:r>
          </a:p>
          <a:p>
            <a:r>
              <a:t>Eight slides for 10-15 minutes. Slides 2, 3 and 8 need the most time; 4 and 5 the least.</a:t>
            </a:r>
          </a:p>
          <a:p>
            <a:r>
              <a:t>Slides 9 and 10 are backup for questions, not part of the talk.</a:t>
            </a:r>
          </a:p>
          <a:p/>
          <a:p>
            <a:r>
              <a:t>Do not read the stakeholder line aloud. It is there for the rubric and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LAYMAN CONTEXT. Assume nobody knows what a tariff is.</a:t>
            </a:r>
          </a:p>
          <a:p/>
          <a:p>
            <a:r>
              <a:t>A tariff is a tax on imports. The government announces it, and it starts on a named date weeks or months later.</a:t>
            </a:r>
          </a:p>
          <a:p/>
          <a:p>
            <a:r>
              <a:t>That gap creates an obvious incentive: get your goods in before the tax starts. Importers rush, and you can see it in the copper line climbing before the date.</a:t>
            </a:r>
          </a:p>
          <a:p/>
          <a:p>
            <a:r>
              <a:t>Afterwards imports usually fall below normal, because buyers already stocked up.</a:t>
            </a:r>
          </a:p>
          <a:p/>
          <a:p>
            <a:r>
              <a:t>This behaviour is called front-loading. That is the whole subject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DOMAIN PROBLEM. This slide says why anyone should care.</a:t>
            </a:r>
          </a:p>
          <a:p/>
          <a:p>
            <a:r>
              <a:t>Somebody has to act on announcement day. An importer with a supplier in the tariffed country has to decide whether to wait it out or qualify a new supplier somewhere else, and requalifying runs months and costs real money. A lender behind either side holds the same question as credit risk. A carrier running that origin's service has to decide whether to keep it.</a:t>
            </a:r>
          </a:p>
          <a:p/>
          <a:p>
            <a:r>
              <a:t>And you cannot just wait and watch, because the data is late. By the time two bad months show up, the duty has been in force for a quarter.</a:t>
            </a:r>
          </a:p>
          <a:p/>
          <a:p>
            <a:r>
              <a:t>So the decision is made before the answer is knowable. That is the gap we are trying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ANALYTIC PROBLEM. Short, it is a signpost.</a:t>
            </a:r>
          </a:p>
          <a:p/>
          <a:p>
            <a:r>
              <a:t>Question 1 is the rush. Question 2 is what the drop afterwards actually means, which is the hard one. Question 3 is duration.</a:t>
            </a:r>
          </a:p>
          <a:p/>
          <a:p>
            <a:r>
              <a:t>Say plainly that this presentation is the data and its limits, not answers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DATA. Two things on this slide, go left then right.</a:t>
            </a:r>
          </a:p>
          <a:p/>
          <a:p>
            <a:r>
              <a:t>Left: monthly US imports from the Census Bureau, free and public, 140 months.</a:t>
            </a:r>
          </a:p>
          <a:p/>
          <a:p>
            <a:r>
              <a:t>Right: what a row actually is. One product, one country, one month. Value is always reported. Weight in kilograms is reported for about 91% of rows and is the better measure, because it does not move when prices move, and it counts goods arriving by truck and rail which the shipping-weight columns miss entirely.</a:t>
            </a:r>
          </a:p>
          <a:p/>
          <a:p>
            <a:r>
              <a:t>The important choice: we pull at 10 digits. Tariff orders are written at 8, and 10 nests inside 8, so we can match a tariff to exactly the products it names instead of guessing. Say this slowly, it matters for slide 8.</a:t>
            </a:r>
          </a:p>
          <a:p/>
          <a:p>
            <a:r>
              <a:t>Why trust it: read the takeaway line.</a:t>
            </a:r>
          </a:p>
          <a:p/>
          <a:p>
            <a:r>
              <a:t>Then mention the tariff side in one sentence: we also searched the Federal Register, 2,792 documents, and classified 134 of them as real tariff actions, in two waves, 2018-19 and a bigger one in 2025. Backup slide 9 has the chart if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AND ITS LIMIT. This is the slide that shows judgement, do not skip it.</a:t>
            </a:r>
          </a:p>
          <a:p/>
          <a:p>
            <a:r>
              <a:t>First explain the x-axis in one sentence: for each product we built what it would have done anyway from earlier years, drew a band for ordinary month-to-month wobble, and this is how far outside that band 2025 went. Backup slide 10 shows the band on copper if anyone wants to see it.</a:t>
            </a:r>
          </a:p>
          <a:p/>
          <a:p>
            <a:r>
              <a:t>Some of these are plausible tariff stories: organic chemicals and pharmaceuticals were under open tariff threat in 2025, and gold moved into US vaults ahead of expected duties.</a:t>
            </a:r>
          </a:p>
          <a:p/>
          <a:p>
            <a:r>
              <a:t>Some are not. Silk is a 60-million-dollar chapter, so almost any month looks extreme next to its own history. Works of art and clocks are small and lumpy.</a:t>
            </a:r>
          </a:p>
          <a:p/>
          <a:p>
            <a:r>
              <a:t>Cocoa is the one to dwell on. It sits high because cocoa prices roughly tripled after bad West African harvests. We measure in dollars, so a price spike reads as a volume surge.</a:t>
            </a:r>
          </a:p>
          <a:p/>
          <a:p>
            <a:r>
              <a:t>So the detector finds unusual months. It does not know why. Something has to connect an unusual month to an actual tariff, and that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SLIDE. If time runs short, this is the one that must survive.</a:t>
            </a:r>
          </a:p>
          <a:p/>
          <a:p>
            <a:r>
              <a:t>A tariff order does not say 'chapter 74, copper'. It points at a list of 8-digit product codes, usually published in a separate legal notice. Until you read those lists, the only thing you can do is treat a whole chapter as tariffed whenever an action touches anything inside it.</a:t>
            </a:r>
          </a:p>
          <a:p/>
          <a:p>
            <a:r>
              <a:t>We read them: 9,083 distinct 8-digit codes across 162 actions.</a:t>
            </a:r>
          </a:p>
          <a:p/>
          <a:p>
            <a:r>
              <a:t>The typical action covers about 5% of its chapter's value. A third cover under 1%.</a:t>
            </a:r>
          </a:p>
          <a:p/>
          <a:p>
            <a:r>
              <a:t>So chapter-level treatment means roughly 95% of what you are measuring is trade the tariff never touched. Any real reaction in the 5% gets averaged away by the 95% that did nothing.</a:t>
            </a:r>
          </a:p>
          <a:p/>
          <a:p>
            <a:r>
              <a:t>That is exactly what happened to us. Our first attempt to measure an effect found nothing, and this is why. The null was our ruler, not the world.</a:t>
            </a:r>
          </a:p>
          <a:p/>
          <a:p>
            <a:r>
              <a:t>The fix is to work at the 8-digit level, where a tariff either names a product or it does not. Everything after this is built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AND NEXT STEPS.</a:t>
            </a:r>
          </a:p>
          <a:p/>
          <a:p>
            <a:r>
              <a:t>Be straight that this is data and limits, not results. Results come next.</a:t>
            </a:r>
          </a:p>
          <a:p/>
          <a:p>
            <a:r>
              <a:t>The one thing to claim as a finding: we measured why the obvious approach fails, and the number is 5%.</a:t>
            </a:r>
          </a:p>
          <a:p/>
          <a:p>
            <a:r>
              <a:t>If asked 'so is there a rush?': we now have the data and the product-level matching to answer it, and the chapter-level version of the question was unanswerable for the reason on the previous slide.</a:t>
            </a:r>
          </a:p>
          <a:p/>
          <a:p>
            <a:r>
              <a:t>If asked 'who exactly is the customer?': the decision is where to source next and when, and it sits with whoever is exposed to a particular country rather than to total volume. Say we are still testing which of those the data best serves. True, and better than naming one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BACKUP, not part of the talk. Use if asked where the tariff dates come from or how many actions there are.</a:t>
            </a:r>
          </a:p>
          <a:p/>
          <a:p>
            <a:r>
              <a:t>Two waves: 2018-19, and a much bigger one in 2025. The legal authority turns out to matter, which is why they are split out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BACKUP, not part of the talk. Use if asked how the normal range on slide 6 is built.</a:t>
            </a:r>
          </a:p>
          <a:p/>
          <a:p>
            <a:r>
              <a:t>Copper peaks 89% above normal against a band of 50%, so it clears.</a:t>
            </a:r>
          </a:p>
          <a:p/>
          <a:p>
            <a:r>
              <a:t>Aluminium does NOT clear: it peaks at 26% against a band of 100%, because its own history is volatile. Same tariff year, and the test says no. A test that can say no is the only kind worth 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874519"/>
            <a:ext cx="108173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61A"/>
                </a:solidFill>
                <a:latin typeface="Avenir Next"/>
              </a:rPr>
              <a:t>Borrowed or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52928"/>
            <a:ext cx="10817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 i="0">
                <a:solidFill>
                  <a:srgbClr val="C8102E"/>
                </a:solidFill>
                <a:latin typeface="Avenir Next"/>
              </a:rPr>
              <a:t>Forecasting import surges around U.S. tariffs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22191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161A"/>
                </a:solidFill>
                <a:latin typeface="Avenir Next"/>
              </a:rPr>
              <a:t>Rahul Reddy Mandadi   +   Raunaksingh Khalsa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61104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737C"/>
                </a:solidFill>
                <a:latin typeface="Avenir Next"/>
              </a:rPr>
              <a:t>DS 5500 Data Science Capstone   |   Presentation 1   | 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47488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737C"/>
                </a:solidFill>
                <a:latin typeface="Avenir Next"/>
              </a:rPr>
              <a:t>Stakeholders: importers re-sourcing suppliers, lenders with exposure to a single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737C"/>
                </a:solidFill>
                <a:latin typeface="Avenir Next"/>
              </a:rPr>
              <a:t>origin, carriers serving an affected trade 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102E"/>
                </a:solidFill>
                <a:latin typeface="Avenir Next"/>
              </a:rPr>
              <a:t>github.com/rahul-mandadi/tariff-rush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Every tariff comes with a date.</a:t>
            </a:r>
          </a:p>
        </p:txBody>
      </p:sp>
      <p:pic>
        <p:nvPicPr>
          <p:cNvPr id="5" name="Picture 4" descr="01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906" y="1874519"/>
            <a:ext cx="8349882" cy="3822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97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A duty is announced, then starts later. That gap is a window to import before it applies.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The decision comes before the data.</a:t>
            </a:r>
          </a:p>
        </p:txBody>
      </p:sp>
      <p:pic>
        <p:nvPicPr>
          <p:cNvPr id="5" name="Picture 4" descr="02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" y="1874519"/>
            <a:ext cx="10817352" cy="368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97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Census publishes monthly trade about five weeks after the month closes.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So we ask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97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This presentation is about the data and what it can support. Results come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161A"/>
                </a:solidFill>
                <a:latin typeface="Avenir Next"/>
              </a:rPr>
              <a:t>1.  Will there be a rush, and how big?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E737C"/>
                </a:solidFill>
                <a:latin typeface="Avenir Next"/>
              </a:rPr>
              <a:t>Before the duty starts, do imports jump, and by how much?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161A"/>
                </a:solidFill>
                <a:latin typeface="Avenir Next"/>
              </a:rPr>
              <a:t>2.  What happens after the duty starts?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E737C"/>
                </a:solidFill>
                <a:latin typeface="Avenir Next"/>
              </a:rPr>
              <a:t>Is the drop volume borrowed from later months, a real fall in demand,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E737C"/>
                </a:solidFill>
                <a:latin typeface="Avenir Next"/>
              </a:rPr>
              <a:t>or trade moving to another country?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161A"/>
                </a:solidFill>
                <a:latin typeface="Avenir Next"/>
              </a:rPr>
              <a:t>3.  How long does it last?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9884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E737C"/>
                </a:solidFill>
                <a:latin typeface="Avenir Next"/>
              </a:rPr>
              <a:t>Months, or permanently?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What we have.</a:t>
            </a:r>
          </a:p>
        </p:txBody>
      </p:sp>
      <p:pic>
        <p:nvPicPr>
          <p:cNvPr id="5" name="Picture 4" descr="03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989320" cy="24469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2029968"/>
            <a:ext cx="4462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161A"/>
                </a:solidFill>
                <a:latin typeface="Avenir Next"/>
              </a:rPr>
              <a:t>One row: one product, one country, one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377440"/>
            <a:ext cx="4462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737C"/>
                </a:solidFill>
                <a:latin typeface="Avenir Next"/>
              </a:rPr>
              <a:t>Copper, March 2025, biggest 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743200"/>
            <a:ext cx="4462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4161A"/>
                </a:solidFill>
                <a:latin typeface="Courier New"/>
              </a:rPr>
              <a:t>product  country     value, $          kg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4161A"/>
                </a:solidFill>
                <a:latin typeface="Courier New"/>
              </a:rPr>
              <a:t>-----------------------------------------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4161A"/>
                </a:solidFill>
                <a:latin typeface="Courier New"/>
              </a:rPr>
              <a:t>74       CHILE    719,291,110  74,332,392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4161A"/>
                </a:solidFill>
                <a:latin typeface="Courier New"/>
              </a:rPr>
              <a:t>74       CANADA   288,797,724  29,299,850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4161A"/>
                </a:solidFill>
                <a:latin typeface="Courier New"/>
              </a:rPr>
              <a:t>74       GERMANY  177,404,661  15,671,176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4161A"/>
                </a:solidFill>
                <a:latin typeface="Courier New"/>
              </a:rPr>
              <a:t>74       MEXICO    98,936,124  10,906,662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4161A"/>
                </a:solidFill>
                <a:latin typeface="Courier New"/>
              </a:rPr>
              <a:t>74       PERU      91,039,306   9,003,463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315968"/>
            <a:ext cx="4462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37C"/>
                </a:solidFill>
                <a:latin typeface="Avenir Next"/>
              </a:rPr>
              <a:t>140 months, Jan 2015 to Aug 2026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37C"/>
                </a:solidFill>
                <a:latin typeface="Avenir Next"/>
              </a:rPr>
              <a:t>15.9 million product-country-month records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37C"/>
                </a:solidFill>
                <a:latin typeface="Avenir Next"/>
              </a:rPr>
              <a:t>Pulled at 10 digits, the level tariff orders are written 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2017 adds up to 2,340 billion dollars against a published 2.34 trillion, and all 140 months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reconcile against a separate total the API returns on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Unusual is not the same as tariffed.</a:t>
            </a:r>
          </a:p>
        </p:txBody>
      </p:sp>
      <p:pic>
        <p:nvPicPr>
          <p:cNvPr id="5" name="Picture 4" descr="05_chap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15" y="1874519"/>
            <a:ext cx="8791464" cy="3822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97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Each chapter measured against its own normal range, built only from data before 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And this is where it nearly came apart.</a:t>
            </a:r>
          </a:p>
        </p:txBody>
      </p:sp>
      <p:pic>
        <p:nvPicPr>
          <p:cNvPr id="5" name="Picture 4" descr="07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15" y="1874519"/>
            <a:ext cx="8403464" cy="3822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97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The typical tariff action covers about 5% of its chapter's value. A third cover under 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Where we 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61A"/>
                </a:solidFill>
                <a:latin typeface="Avenir Next"/>
              </a:rPr>
              <a:t>Built and 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140 months of imports at the exact level tariffs are written, reconciled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against published totals.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61A"/>
                </a:solidFill>
                <a:latin typeface="Avenir Next"/>
              </a:rPr>
              <a:t>A detector, and its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8444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We can find months that are unusual for a product, and we know it cannot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tell a tariff from a price shock on its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3425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61A"/>
                </a:solidFill>
                <a:latin typeface="Avenir Next"/>
              </a:rPr>
              <a:t>134 tariff actions, with the products behind each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9145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Corrected announcement and effective dates, and the 8-digit product lists.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4865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61A"/>
                </a:solidFill>
                <a:latin typeface="Avenir Next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0585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Measure the rush and what follows it, at product level, using untreated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countries as the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Backup: the tariff actions we found.</a:t>
            </a:r>
          </a:p>
        </p:txBody>
      </p:sp>
      <p:pic>
        <p:nvPicPr>
          <p:cNvPr id="5" name="Picture 4" descr="06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" y="1874519"/>
            <a:ext cx="10817352" cy="36255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97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2,792 Federal Register documents reviewed, 134 are real tariff actions.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Median gap from announcement to start date is 8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292608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37C"/>
                </a:solidFill>
                <a:latin typeface="Avenir Next"/>
              </a:rPr>
              <a:t>RAHUL REDDY MANDADI   +   RAUNAKSINGH KHALSA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676656"/>
            <a:ext cx="10817352" cy="0"/>
          </a:xfrm>
          <a:prstGeom prst="line">
            <a:avLst/>
          </a:prstGeom>
          <a:ln w="9525">
            <a:solidFill>
              <a:srgbClr val="6E7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8686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A"/>
                </a:solidFill>
                <a:latin typeface="Avenir Next"/>
              </a:rPr>
              <a:t>Backup: what a normal range looks like.</a:t>
            </a:r>
          </a:p>
        </p:txBody>
      </p:sp>
      <p:pic>
        <p:nvPicPr>
          <p:cNvPr id="5" name="Picture 4" descr="04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380" y="1874519"/>
            <a:ext cx="8542934" cy="3822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97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Copper against its own expected range.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E737C"/>
                </a:solidFill>
                <a:latin typeface="Avenir Next"/>
              </a:rPr>
              <a:t>The expected line uses only data from before the tariff.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