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SPLIT: slides 1-4 one of us, 5-8 the other. Both must speak.</a:t>
            </a:r>
          </a:p>
          <a:p>
            <a:r>
              <a:t>Eight slides for 10-15 minutes. Slides 2, 3 and 7 need the most time; 4 and 5 the least.</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 Importers rush, and you can see it in the copper line climbing before the date.</a:t>
            </a:r>
          </a:p>
          <a:p/>
          <a:p>
            <a:r>
              <a:t>Afterwards imports usually fall below normal, because buyers already stocked up.</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and this is why. The null was our ruler, not the world.</a:t>
            </a:r>
          </a:p>
          <a:p/>
          <a:p>
            <a:r>
              <a:t>The fix is to work at the 8-digit level, where a tariff either names a product or it does not. Everything after this is built that way.</a:t>
            </a:r>
          </a:p>
          <a:p/>
          <a:p>
            <a:r>
              <a:t>-- NARRATE IT THROUGH COPPER, which they already know from slides 2, 5 and 6 --</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 duty is announced, then starts later.</a:t>
            </a:r>
          </a:p>
          <a:p>
            <a:pPr algn="l">
              <a:lnSpc>
                <a:spcPct val="112000"/>
              </a:lnSpc>
            </a:pPr>
            <a:r>
              <a:rPr sz="1700" b="0" i="0">
                <a:solidFill>
                  <a:srgbClr val="6E737C"/>
                </a:solidFill>
                <a:latin typeface="Avenir Next"/>
              </a:rPr>
              <a:t>That gap is a window to import before the duty applies. Goods pulled into it are</a:t>
            </a:r>
          </a:p>
          <a:p>
            <a:pPr algn="l">
              <a:lnSpc>
                <a:spcPct val="112000"/>
              </a:lnSpc>
            </a:pPr>
            <a:r>
              <a:rPr sz="1700" b="0" i="0">
                <a:solidFill>
                  <a:srgbClr val="6E737C"/>
                </a:solidFill>
                <a:latin typeface="Avenir Next"/>
              </a:rPr>
              <a:t>borrowed from later months, which is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4115" y="1874519"/>
            <a:ext cx="8403464" cy="3822191"/>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Published work measures these at the 8 to 10 digit level [1]. Coarser data shrinks</a:t>
            </a:r>
          </a:p>
          <a:p>
            <a:pPr algn="l">
              <a:lnSpc>
                <a:spcPct val="112000"/>
              </a:lnSpc>
            </a:pPr>
            <a:r>
              <a:rPr sz="1700" b="0" i="0">
                <a:solidFill>
                  <a:srgbClr val="6E737C"/>
                </a:solidFill>
                <a:latin typeface="Avenir Next"/>
              </a:rPr>
              <a:t>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6" name="TextBox 5"/>
          <p:cNvSpPr txBox="1"/>
          <p:nvPr/>
        </p:nvSpPr>
        <p:spPr>
          <a:xfrm>
            <a:off x="822960" y="1572768"/>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7" name="TextBox 6"/>
          <p:cNvSpPr txBox="1"/>
          <p:nvPr/>
        </p:nvSpPr>
        <p:spPr>
          <a:xfrm>
            <a:off x="822960" y="1938528"/>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reconciled against published totals.</a:t>
            </a:r>
          </a:p>
        </p:txBody>
      </p:sp>
      <p:sp>
        <p:nvSpPr>
          <p:cNvPr id="8" name="TextBox 7"/>
          <p:cNvSpPr txBox="1"/>
          <p:nvPr/>
        </p:nvSpPr>
        <p:spPr>
          <a:xfrm>
            <a:off x="822960" y="2304288"/>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9" name="TextBox 8"/>
          <p:cNvSpPr txBox="1"/>
          <p:nvPr/>
        </p:nvSpPr>
        <p:spPr>
          <a:xfrm>
            <a:off x="822960" y="2670048"/>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0" name="TextBox 9"/>
          <p:cNvSpPr txBox="1"/>
          <p:nvPr/>
        </p:nvSpPr>
        <p:spPr>
          <a:xfrm>
            <a:off x="822960" y="3035808"/>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1" name="TextBox 10"/>
          <p:cNvSpPr txBox="1"/>
          <p:nvPr/>
        </p:nvSpPr>
        <p:spPr>
          <a:xfrm>
            <a:off x="822960" y="3401568"/>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2" name="TextBox 11"/>
          <p:cNvSpPr txBox="1"/>
          <p:nvPr/>
        </p:nvSpPr>
        <p:spPr>
          <a:xfrm>
            <a:off x="822960" y="3767328"/>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3" name="TextBox 12"/>
          <p:cNvSpPr txBox="1"/>
          <p:nvPr/>
        </p:nvSpPr>
        <p:spPr>
          <a:xfrm>
            <a:off x="822960" y="4133088"/>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4" name="TextBox 13"/>
          <p:cNvSpPr txBox="1"/>
          <p:nvPr/>
        </p:nvSpPr>
        <p:spPr>
          <a:xfrm>
            <a:off x="822960" y="4498848"/>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5" name="TextBox 14"/>
          <p:cNvSpPr txBox="1"/>
          <p:nvPr/>
        </p:nvSpPr>
        <p:spPr>
          <a:xfrm>
            <a:off x="822960" y="4864608"/>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6" name="TextBox 15"/>
          <p:cNvSpPr txBox="1"/>
          <p:nvPr/>
        </p:nvSpPr>
        <p:spPr>
          <a:xfrm>
            <a:off x="822960" y="5230368"/>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7" name="TextBox 16"/>
          <p:cNvSpPr txBox="1"/>
          <p:nvPr/>
        </p:nvSpPr>
        <p:spPr>
          <a:xfrm>
            <a:off x="822960" y="5596128"/>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