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RAHUL   |   this slide 0:20   |   clock at end 0:20</a:t>
            </a:r>
          </a:p>
          <a:p>
            <a:r>
              <a:t>==========================================================</a:t>
            </a:r>
          </a:p>
          <a:p>
            <a:r>
              <a:t>SAY THIS:</a:t>
            </a:r>
          </a:p>
          <a:p/>
          <a:p>
            <a:r>
              <a:t>Hi everyone. I'm Rahul, this is Raunak, and our project is called Borrowed or Real.</a:t>
            </a:r>
          </a:p>
          <a:p/>
          <a:p>
            <a:r>
              <a:t>Imports drop after a tariff starts. We want to know whether the goods just arrived early, or</a:t>
            </a:r>
          </a:p>
          <a:p>
            <a:r>
              <a:t>whether the business left for good.</a:t>
            </a:r>
          </a:p>
          <a:p/>
          <a:p>
            <a:r>
              <a:t>I'll take the first four slides.</a:t>
            </a:r>
          </a:p>
          <a:p/>
          <a:p>
            <a:r>
              <a:t>==========================================================</a:t>
            </a:r>
          </a:p>
          <a:p>
            <a:r>
              <a:t>HOW TO SAY IT: Look up, not at the screen. Nobody needs the slide for this bit.</a:t>
            </a:r>
          </a:p>
          <a:p/>
          <a:p>
            <a:r>
              <a:t>==========================================================</a:t>
            </a:r>
          </a:p>
          <a:p>
            <a:r>
              <a:t>NOT SPOKEN. Only if someone asks:</a:t>
            </a:r>
          </a:p>
          <a:p/>
          <a:p>
            <a:r>
              <a:t>Q: So is there a rush?</a:t>
            </a:r>
          </a:p>
          <a:p>
            <a:r>
              <a:t>A: We have the data and the product level matching to answer it now. The product group version of the question was unanswerable, for the reason on slide 7.</a:t>
            </a:r>
          </a:p>
          <a:p/>
          <a:p>
            <a:r>
              <a:t>Q: Who exactly is the customer?</a:t>
            </a:r>
          </a:p>
          <a:p>
            <a:r>
              <a:t>A: Whoever is tied to one country rather than to overall volume: an importer looking for a new supplier, a lender behind either side, a carrier running that route. We are still working out which of those the data helps most. An earlier version of this project said port and terminal operators; we tested that and dropped it, because the goods that stop coming from one country just arrive from another, through much the same US ports.</a:t>
            </a:r>
          </a:p>
          <a:p/>
          <a:p>
            <a:r>
              <a:t>Q: Five percent of what, exactly?</a:t>
            </a:r>
          </a:p>
          <a:p>
            <a:r>
              <a:t>A: It is the middle value across 1,350 pairs of one tariff action and one product group. If you work it out per action instead, the middle value is 1.3 percent, so the slide uses the safer number.</a:t>
            </a:r>
          </a:p>
          <a:p/>
          <a:p>
            <a:r>
              <a:t>Q: What were the other two reasons?</a:t>
            </a:r>
          </a:p>
          <a:p>
            <a:r>
              <a:t>A: First, most of the dates we have come from notices that just put an earlier decision into effect. So the gap between the date we hold and the start date is only about nine days, which leaves almost no run-up to measure. The copper story answers that one: the rush runs on news, not on paperwork. Second, we had lumped all the supplying countries together, which comparing across countries fixes.</a:t>
            </a:r>
          </a:p>
          <a:p/>
          <a:p>
            <a:r>
              <a:t>Q: Your copper chart recovers, so what is the problem?</a:t>
            </a:r>
          </a:p>
          <a:p>
            <a:r>
              <a:t>A: Correct, and we are not claiming copper proves anything. In tonnage it goes 293 thousand tonnes in July 2025, down to 93 thousand in November, back to 245 thousand by August 2026. One product, one event. It is on slide 2 to explain front-loading.</a:t>
            </a:r>
          </a:p>
          <a:p/>
          <a:p>
            <a:r>
              <a:t>Q: Why not just watch the data and react?</a:t>
            </a:r>
          </a:p>
          <a:p>
            <a:r>
              <a:t>A: That is slide 3. The first usable data lands about five weeks after the month closes, and the decision is on announcement day.</a:t>
            </a:r>
          </a:p>
          <a:p/>
          <a:p>
            <a:r>
              <a:t>Q: What is your data science problem, in technical terms?</a:t>
            </a:r>
          </a:p>
          <a:p>
            <a:r>
              <a:t>A: Classification for whether a surge occurs, regression for how large, and duration analysis with right-censoring for how long the aftermath lasts.</a:t>
            </a:r>
          </a:p>
          <a:p/>
          <a:p>
            <a:r>
              <a:t>==========================================================</a:t>
            </a:r>
          </a:p>
          <a:p>
            <a:r>
              <a:t>BACKGROUND, not for saying out loud:</a:t>
            </a:r>
          </a:p>
          <a:p/>
          <a:p>
            <a:r>
              <a:t>SPEAKER SPLIT: RAHUL takes slides 1 to 4. RAUNAK takes slides 5 to 8.</a:t>
            </a:r>
          </a:p>
          <a:p>
            <a:r>
              <a:t>The rubric requires both of them to speak, so neither half is optional.</a:t>
            </a:r>
          </a:p>
          <a:p>
            <a:r>
              <a:t>Eight slides, UNDER 10 MINUTES. Slide 7 needs the most time; 1 and 4 the least.</a:t>
            </a:r>
          </a:p>
          <a:p>
            <a:r>
              <a:t>slides/SCRIPT.md is written to 9:03 measured, which is the whole budget. Do not ad-lib.</a:t>
            </a:r>
          </a:p>
          <a:p>
            <a:r>
              <a:t>Slides 9, 10 and 11 are backup for questions, not part of the talk.</a:t>
            </a:r>
          </a:p>
          <a:p/>
          <a:p>
            <a:r>
              <a:t>Do not read the stakeholder line aloud. It is there for the rubric and the PDF.</a:t>
            </a:r>
          </a:p>
          <a:p/>
          <a:p>
            <a:r>
              <a:t>================ Q&amp;A PREP ================</a:t>
            </a:r>
          </a:p>
          <a:p>
            <a:r>
              <a:t>The deck is scoped to data, limits and next steps on purpose. These are not on the slides, but we should be able to answer all six cold.</a:t>
            </a:r>
          </a:p>
          <a:p/>
          <a:p>
            <a:r>
              <a:t>1. DOMAIN PROBLEM. A tariff is announced with a future start date, importers rush ahead of it, and imports fall afterwards. Someone exposed to the targeted country has to decide on announcement day whether to wait it out or re-source, and the data that would settle it arrives about five weeks after each month closes. Slides 2 and 3.</a:t>
            </a:r>
          </a:p>
          <a:p/>
          <a:p>
            <a:r>
              <a:t>2. DATA SCIENCE PROBLEM. Three, in order: a classification problem (does a surge occur), a regression problem (how large), and a duration problem (how long does the aftermath last, with right-censoring for episodes still running at the end of the panel). Slide 4 states them in plain language; this is the technical framing.</a:t>
            </a:r>
          </a:p>
          <a:p/>
          <a:p>
            <a:r>
              <a:t>3. WHO AND WHAT. Whoever carries exposure to one origin rather than to total volume: an importer deciding whether to requalify a supplier, a lender holding that as credit risk, a carrier running that origin's service. We are explicit that we are still testing which of those the data serves best. An earlier version of this project named port and terminal operators; we tested that and dropped it, because displaced volume arrives from a different country through substantially the same US customs districts.</a:t>
            </a:r>
          </a:p>
          <a:p/>
          <a:p>
            <a:r>
              <a:t>4. DATA SOURCES. Two, both public and free. US Census international trade API for monthly imports, pulled at HS10 (slide 5). The Federal Register API for tariff actions, 2,792 documents classified down to 134 real actions (backup slide 9). The product lists behind each action come from the USITC Harmonized Tariff Schedule, chapter 99.</a:t>
            </a:r>
          </a:p>
          <a:p/>
          <a:p>
            <a:r>
              <a:t>5. METHODOLOGY. Pull at HS10 because tariff orders are written at HS8 and HS10 nests inside it, so matching is exact rather than approximate. Build a counterfactual per series from pre-event data only. Then compare a tariffed product from a tariffed country against the same product from countries that were not tariffed, in the same month. That last step is the important one: a commodity price shock moves every origin together and cancels, while a tariff moves one origin against the rest.</a:t>
            </a:r>
          </a:p>
          <a:p/>
          <a:p>
            <a:r>
              <a:t>6. EVALUATION AND METRICS. Every estimate is paired with a placebo: the same calculation with every event shifted back 24 months. If a result does not separate from its own placebo we do not report it as a result. That discipline has already retired three candidate methods. For the predictive questions, forward-chaining validation by year and grouped by case, so no case appears in both folds and the model is always tested on cases later than the ones it learned from, scored against a deliberately hard naive benchmark rather than against zero.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RAHUL   |   this slide 1:18   |   clock at end 1:38</a:t>
            </a:r>
          </a:p>
          <a:p>
            <a:r>
              <a:t>==========================================================</a:t>
            </a:r>
          </a:p>
          <a:p>
            <a:r>
              <a:t>SAY THIS:</a:t>
            </a:r>
          </a:p>
          <a:p/>
          <a:p>
            <a:r>
              <a:t>So, tariffs don't happen overnight. They get announced, and they take effect on a named date</a:t>
            </a:r>
          </a:p>
          <a:p>
            <a:r>
              <a:t>later.</a:t>
            </a:r>
          </a:p>
          <a:p/>
          <a:p>
            <a:r>
              <a:t>Figure 1 is monthly copper imports, in dollars. Here's July 2025, when a fifty percent duty was</a:t>
            </a:r>
          </a:p>
          <a:p>
            <a:r>
              <a:t>announced. Here's August, when it started. Three weeks apart.</a:t>
            </a:r>
          </a:p>
          <a:p/>
          <a:p>
            <a:r>
              <a:t>But look at what the line does. It doesn't wait for July. It starts climbing in February, and</a:t>
            </a:r>
          </a:p>
          <a:p>
            <a:r>
              <a:t>nearly triples by the time of the announcement. Why? Because the investigation behind that tariff</a:t>
            </a:r>
          </a:p>
          <a:p>
            <a:r>
              <a:t>was public months earlier. Everyone in the industry could see it coming.</a:t>
            </a:r>
          </a:p>
          <a:p/>
          <a:p>
            <a:r>
              <a:t>So the rush doesn't start when a tariff becomes official. It starts when it becomes likely.</a:t>
            </a:r>
          </a:p>
          <a:p/>
          <a:p>
            <a:r>
              <a:t>Then August, and it drops hard.</a:t>
            </a:r>
          </a:p>
          <a:p/>
          <a:p>
            <a:r>
              <a:t>You'll also see it climb back up at the end. That's one metal and one tariff, so we're not</a:t>
            </a:r>
          </a:p>
          <a:p>
            <a:r>
              <a:t>reading anything into it. The measuring comes later.</a:t>
            </a:r>
          </a:p>
          <a:p/>
          <a:p>
            <a:r>
              <a:t>That's front-loading. Goods that would have come in October came in June instead. Nothing got</a:t>
            </a:r>
          </a:p>
          <a:p>
            <a:r>
              <a:t>created, it just moved forward in time. We call that borrowed, because the later months pay it</a:t>
            </a:r>
          </a:p>
          <a:p>
            <a:r>
              <a:t>back.</a:t>
            </a:r>
          </a:p>
          <a:p/>
          <a:p>
            <a:r>
              <a:t>==========================================================</a:t>
            </a:r>
          </a:p>
          <a:p>
            <a:r>
              <a:t>HOW TO SAY IT: Point at the two red dashed lines when you name July and August, then sweep back along the</a:t>
            </a:r>
          </a:p>
          <a:p>
            <a:r>
              <a:t>climb when you say February. The sweep is the whole point of the slide.</a:t>
            </a:r>
          </a:p>
          <a:p/>
          <a:p>
            <a:r>
              <a:t>==========================================================</a:t>
            </a:r>
          </a:p>
          <a:p>
            <a:r>
              <a:t>BACKGROUND, not for saying out loud:</a:t>
            </a:r>
          </a:p>
          <a:p/>
          <a:p>
            <a:r>
              <a:t>LAYMAN CONTEXT. Assume nobody knows what a tariff is.</a:t>
            </a:r>
          </a:p>
          <a:p/>
          <a:p>
            <a:r>
              <a:t>A tariff is a tax on imports. The government announces it, and it starts on a named date weeks or months later.</a:t>
            </a:r>
          </a:p>
          <a:p/>
          <a:p>
            <a:r>
              <a:t>That gap creates an obvious incentive: get your goods in before the tax starts.</a:t>
            </a:r>
          </a:p>
          <a:p/>
          <a:p>
            <a:r>
              <a:t>POINT AT THE CHART AND BE ACCURATE ABOUT IT. The rush does not wait for the announcement. Copper runs 1.25 billion in February and 3.22 in July, the month it was announced, because a Section 232 copper investigation was public long before the proclamation. The announcement-to-start gap here is three weeks; the build-up is five months. So the thing that starts the rush is the tariff becoming likely, not becoming official. That is part of why question 1 is worth asking.</a:t>
            </a:r>
          </a:p>
          <a:p/>
          <a:p>
            <a:r>
              <a:t>Then August falls to 1.74 and November to 1.06, because buyers already stocked up.</a:t>
            </a:r>
          </a:p>
          <a:p/>
          <a:p>
            <a:r>
              <a:t>DO NOT OVERSELL THE DIP. The line comes back up from December. Eighteen months of copper is one product and one event, and it is on this slide to explain the idea, not to prove anything. The measurement is slides 6 to 8.</a:t>
            </a:r>
          </a:p>
          <a:p/>
          <a:p>
            <a:r>
              <a:t>This behavior is called front-loading. That is the whole subject of the project.</a:t>
            </a:r>
          </a:p>
          <a:p/>
          <a:p>
            <a:r>
              <a:t>Define BORROWED here, out loud, because it is the title of the project: goods that would have been imported in October arrive in August instead. Nothing was created or destroyed, it just moved. If the whole dip afterwards is that, it is borrowed. If some of it never comes back, it is real. That is what we are trying to tell apart.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RAHUL   |   this slide 1:10   |   clock at end 2:48</a:t>
            </a:r>
          </a:p>
          <a:p>
            <a:r>
              <a:t>==========================================================</a:t>
            </a:r>
          </a:p>
          <a:p>
            <a:r>
              <a:t>SAY THIS:</a:t>
            </a:r>
          </a:p>
          <a:p/>
          <a:p>
            <a:r>
              <a:t>So why does this matter?</a:t>
            </a:r>
          </a:p>
          <a:p/>
          <a:p>
            <a:r>
              <a:t>Because somebody has to make an expensive decision on announcement day, and the data they'd need</a:t>
            </a:r>
          </a:p>
          <a:p>
            <a:r>
              <a:t>doesn't exist yet.</a:t>
            </a:r>
          </a:p>
          <a:p/>
          <a:p>
            <a:r>
              <a:t>Figure 2 is that problem. Day zero, the tariff gets announced. If you're importing from the</a:t>
            </a:r>
          </a:p>
          <a:p>
            <a:r>
              <a:t>country that just got hit, you have a decision. Wait it out, or go and find a new supplier?</a:t>
            </a:r>
          </a:p>
          <a:p>
            <a:r>
              <a:t>Qualifying a new supplier takes months and real money.</a:t>
            </a:r>
          </a:p>
          <a:p/>
          <a:p>
            <a:r>
              <a:t>And it isn't just importers. A bank that lent against that trade is asking the same question. So</a:t>
            </a:r>
          </a:p>
          <a:p>
            <a:r>
              <a:t>is the carrier running that route.</a:t>
            </a:r>
          </a:p>
          <a:p/>
          <a:p>
            <a:r>
              <a:t>Day thirty, the duty takes effect.</a:t>
            </a:r>
          </a:p>
          <a:p/>
          <a:p>
            <a:r>
              <a:t>Day sixty-five is the first time official data shows what happened, because Census publishes about</a:t>
            </a:r>
          </a:p>
          <a:p>
            <a:r>
              <a:t>five weeks after the month closes.</a:t>
            </a:r>
          </a:p>
          <a:p/>
          <a:p>
            <a:r>
              <a:t>So by the time you've seen two bad months, the tariff's been in force for a quarter, and every one</a:t>
            </a:r>
          </a:p>
          <a:p>
            <a:r>
              <a:t>of those decisions is already made.</a:t>
            </a:r>
          </a:p>
          <a:p/>
          <a:p>
            <a:r>
              <a:t>That's the gap we're trying to close.</a:t>
            </a:r>
          </a:p>
          <a:p/>
          <a:p>
            <a:r>
              <a:t>==========================================================</a:t>
            </a:r>
          </a:p>
          <a:p>
            <a:r>
              <a:t>HOW TO SAY IT: Walk the three dots left to right as you name them. Pause on day sixty-five.</a:t>
            </a:r>
          </a:p>
          <a:p/>
          <a:p>
            <a:r>
              <a:t>==========================================================</a:t>
            </a:r>
          </a:p>
          <a:p>
            <a:r>
              <a:t>BACKGROUND, not for saying out loud:</a:t>
            </a:r>
          </a:p>
          <a:p/>
          <a:p>
            <a:r>
              <a:t>THE DOMAIN PROBLEM. This slide says why anyone should care.</a:t>
            </a:r>
          </a:p>
          <a:p/>
          <a:p>
            <a:r>
              <a:t>Somebody has to act on announcement day. An importer with a supplier in the tariffed country has to decide whether to wait it out or qualify a new supplier somewhere else, and requalifying runs months and costs real money. A lender behind either side holds the same question as credit risk. A carrier running that origin's service has to decide whether to keep it.</a:t>
            </a:r>
          </a:p>
          <a:p/>
          <a:p>
            <a:r>
              <a:t>And you cannot just wait and watch, because the data is late. By the time two bad months show up, the duty has been in force for a quarter.</a:t>
            </a:r>
          </a:p>
          <a:p/>
          <a:p>
            <a:r>
              <a:t>So the decision is made before the answer is knowable. That is the gap we are trying to close.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RAHUL   |   this slide 0:51   |   clock at end 3:40</a:t>
            </a:r>
          </a:p>
          <a:p>
            <a:r>
              <a:t>==========================================================</a:t>
            </a:r>
          </a:p>
          <a:p>
            <a:r>
              <a:t>SAY THIS:</a:t>
            </a:r>
          </a:p>
          <a:p/>
          <a:p>
            <a:r>
              <a:t>So we turned that into three questions, and they're on the slide.</a:t>
            </a:r>
          </a:p>
          <a:p/>
          <a:p>
            <a:r>
              <a:t>One, will there be a rush and how big. Classification, then regression.</a:t>
            </a:r>
          </a:p>
          <a:p/>
          <a:p>
            <a:r>
              <a:t>Two, what happens after the duty starts. This is the hard one, and it's our title. Either the</a:t>
            </a:r>
          </a:p>
          <a:p>
            <a:r>
              <a:t>goods were borrowed and come back, or the demand was lost for good, or the same goods now come</a:t>
            </a:r>
          </a:p>
          <a:p>
            <a:r>
              <a:t>from a different country.</a:t>
            </a:r>
          </a:p>
          <a:p/>
          <a:p>
            <a:r>
              <a:t>Three, how long it lasts. That's a duration problem, because some are still running at the end of</a:t>
            </a:r>
          </a:p>
          <a:p>
            <a:r>
              <a:t>our data.</a:t>
            </a:r>
          </a:p>
          <a:p/>
          <a:p>
            <a:r>
              <a:t>Today is about our data and its limits, not results. But we found something the hard way, and</a:t>
            </a:r>
          </a:p>
          <a:p>
            <a:r>
              <a:t>Raunak's going to take you through it.</a:t>
            </a:r>
          </a:p>
          <a:p/>
          <a:p>
            <a:r>
              <a:t>Raunak.</a:t>
            </a:r>
          </a:p>
          <a:p/>
          <a:p>
            <a:r>
              <a:t>==========================================================</a:t>
            </a:r>
          </a:p>
          <a:p>
            <a:r>
              <a:t>HOW TO SAY IT: Do not read the sub-lines under each question, they are already on the slide.</a:t>
            </a:r>
          </a:p>
          <a:p/>
          <a:p>
            <a:r>
              <a:t>==========================================================</a:t>
            </a:r>
          </a:p>
          <a:p>
            <a:r>
              <a:t>BACKGROUND, not for saying out loud:</a:t>
            </a:r>
          </a:p>
          <a:p/>
          <a:p>
            <a:r>
              <a:t>THE ANALYTIC PROBLEM. Short, it is a signpost.</a:t>
            </a:r>
          </a:p>
          <a:p/>
          <a:p>
            <a:r>
              <a:t>Question 1 is the rush. Question 2 is what the drop afterwards actually means, which is the hard one: borrowed means the goods arrive early and the dip is just payback, lost means that demand never comes back, and bought from somewhere else means the same goods arrive from a different country. Question 3 is how long it lasts.</a:t>
            </a:r>
          </a:p>
          <a:p/>
          <a:p>
            <a:r>
              <a:t>Say plainly that this presentation is the data and its limits, not answers yet.</a:t>
            </a:r>
          </a:p>
          <a:p/>
          <a:p>
            <a:r>
              <a:t>RAHUL HANDS OVER HERE. Say Raunak's name out loud so the switch is clean.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RAUNAK   |   this slide 1:31   |   clock at end 5:12</a:t>
            </a:r>
          </a:p>
          <a:p>
            <a:r>
              <a:t>==========================================================</a:t>
            </a:r>
          </a:p>
          <a:p>
            <a:r>
              <a:t>SAY THIS:</a:t>
            </a:r>
          </a:p>
          <a:p/>
          <a:p>
            <a:r>
              <a:t>Thanks Rahul. Two data sources, both free and public.</a:t>
            </a:r>
          </a:p>
          <a:p/>
          <a:p>
            <a:r>
              <a:t>Figure 3 on the left is US Census trade data, every month from January 2015 to August 2026. 140</a:t>
            </a:r>
          </a:p>
          <a:p>
            <a:r>
              <a:t>months, about 15.9 million rows. The last bar is grey because 2026 is only eight months so far.</a:t>
            </a:r>
          </a:p>
          <a:p/>
          <a:p>
            <a:r>
              <a:t>Table 1 on the right shows what one row is. One product, one country, one month. This product</a:t>
            </a:r>
          </a:p>
          <a:p>
            <a:r>
              <a:t>code, from Chile, March 2025, 715 million dollars and about 74 million kilograms.</a:t>
            </a:r>
          </a:p>
          <a:p/>
          <a:p>
            <a:r>
              <a:t>Now look at that first column. Those are eight digit codes, and we pull our data at ten digits.</a:t>
            </a:r>
          </a:p>
          <a:p>
            <a:r>
              <a:t>Here's why. A tariff order doesn't say "copper". It lists specific eight digit codes. And ten</a:t>
            </a:r>
          </a:p>
          <a:p>
            <a:r>
              <a:t>digits sit inside eight, so we can match a tariff to exactly the products it names instead of</a:t>
            </a:r>
          </a:p>
          <a:p>
            <a:r>
              <a:t>guessing.</a:t>
            </a:r>
          </a:p>
          <a:p/>
          <a:p>
            <a:r>
              <a:t>How do we know the data's right? Add up 2017 and we get two point three four trillion dollars. The</a:t>
            </a:r>
          </a:p>
          <a:p>
            <a:r>
              <a:t>published figure is two point three four trillion. And all 140 months check against a separate</a:t>
            </a:r>
          </a:p>
          <a:p>
            <a:r>
              <a:t>total the API gives us.</a:t>
            </a:r>
          </a:p>
          <a:p/>
          <a:p>
            <a:r>
              <a:t>Second source is the Federal Register. We went through nearly two thousand eight hundred</a:t>
            </a:r>
          </a:p>
          <a:p>
            <a:r>
              <a:t>documents, and a hundred and thirty four of them are real tariff actions.</a:t>
            </a:r>
          </a:p>
          <a:p/>
          <a:p>
            <a:r>
              <a:t>==========================================================</a:t>
            </a:r>
          </a:p>
          <a:p>
            <a:r>
              <a:t>HOW TO SAY IT: Point left for Figure 3, then right for Table 1. Say the figure numbers out loud.</a:t>
            </a:r>
          </a:p>
          <a:p/>
          <a:p>
            <a:r>
              <a:t>==========================================================</a:t>
            </a:r>
          </a:p>
          <a:p>
            <a:r>
              <a:t>BACKGROUND, not for saying out loud:</a:t>
            </a:r>
          </a:p>
          <a:p/>
          <a:p>
            <a:r>
              <a:t>THE DATA. RAUNAK STARTS HERE. Two things on this slide, go left then right.</a:t>
            </a:r>
          </a:p>
          <a:p/>
          <a:p>
            <a:r>
              <a:t>Left: monthly US imports from the Census Bureau, free and public, 140 months.</a:t>
            </a:r>
          </a:p>
          <a:p/>
          <a:p>
            <a:r>
              <a:t>Right: what a row actually is. One 8-digit product, one country, one month. Chapter 74 is copper; inside it are 88 separate 8-digit lines in that month alone, and a tariff names lines, not chapters. Value is always reported. Weight in kilograms is reported for about 91% of rows and is the better measure, because it does not move when prices move, and it counts goods arriving by truck and rail which the shipping-weight columns miss entirely.</a:t>
            </a:r>
          </a:p>
          <a:p/>
          <a:p>
            <a:r>
              <a:t>The important choice: we pull at 10 digits. Tariff orders are written at 8, and 10 nests inside 8, so we can match a tariff to exactly the products it names instead of guessing. Say this slowly, it matters for slide 7.</a:t>
            </a:r>
          </a:p>
          <a:p/>
          <a:p>
            <a:r>
              <a:t>Why trust it: read the takeaway line.</a:t>
            </a:r>
          </a:p>
          <a:p/>
          <a:p>
            <a:r>
              <a:t>Then mention the tariff side in one sentence: we also searched the Federal Register, 2,792 documents, and classified 134 of them as real tariff actions, in two waves, 2018-19 and a bigger one in 2025. Backup slide 9 has the chart if anyone asks.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RAUNAK   |   this slide 1:22   |   clock at end 6:34</a:t>
            </a:r>
          </a:p>
          <a:p>
            <a:r>
              <a:t>==========================================================</a:t>
            </a:r>
          </a:p>
          <a:p>
            <a:r>
              <a:t>SAY THIS:</a:t>
            </a:r>
          </a:p>
          <a:p/>
          <a:p>
            <a:r>
              <a:t>The first thing we tried was to find the months that look weird.</a:t>
            </a:r>
          </a:p>
          <a:p/>
          <a:p>
            <a:r>
              <a:t>For each product group, we used the earlier years to work out what it would normally have done.</a:t>
            </a:r>
          </a:p>
          <a:p>
            <a:r>
              <a:t>Then we drew a band around that for ordinary month to month wobble. Anything outside the band</a:t>
            </a:r>
          </a:p>
          <a:p>
            <a:r>
              <a:t>counts as unusual.</a:t>
            </a:r>
          </a:p>
          <a:p/>
          <a:p>
            <a:r>
              <a:t>Figure 4 ranks the ten groups that went furthest outside their own normal range in 2025. The scale</a:t>
            </a:r>
          </a:p>
          <a:p>
            <a:r>
              <a:t>along the bottom is how many times outside the band, so one is right at the edge.</a:t>
            </a:r>
          </a:p>
          <a:p/>
          <a:p>
            <a:r>
              <a:t>Some look like tariff stories. Organic chemicals and pharmaceuticals were both under open tariff</a:t>
            </a:r>
          </a:p>
          <a:p>
            <a:r>
              <a:t>threat in 2025.</a:t>
            </a:r>
          </a:p>
          <a:p/>
          <a:p>
            <a:r>
              <a:t>But look at the red ones. Silk is only about 55 million dollars a year, so almost any month looks</a:t>
            </a:r>
          </a:p>
          <a:p>
            <a:r>
              <a:t>extreme. And cocoa's up there because cocoa prices roughly tripled after bad harvests in West</a:t>
            </a:r>
          </a:p>
          <a:p>
            <a:r>
              <a:t>Africa. We measure in dollars, so a price spike looks exactly like a surge in volume.</a:t>
            </a:r>
          </a:p>
          <a:p/>
          <a:p>
            <a:r>
              <a:t>So the detector finds unusual months, but it has no idea why. It can't tell a tariff from a bad</a:t>
            </a:r>
          </a:p>
          <a:p>
            <a:r>
              <a:t>harvest. That's the next slide.</a:t>
            </a:r>
          </a:p>
          <a:p/>
          <a:p>
            <a:r>
              <a:t>==========================================================</a:t>
            </a:r>
          </a:p>
          <a:p>
            <a:r>
              <a:t>HOW TO SAY IT: Point at the bottom axis when you explain the scale, then at the red bars.</a:t>
            </a:r>
          </a:p>
          <a:p/>
          <a:p>
            <a:r>
              <a:t>==========================================================</a:t>
            </a:r>
          </a:p>
          <a:p>
            <a:r>
              <a:t>BACKGROUND, not for saying out loud:</a:t>
            </a:r>
          </a:p>
          <a:p/>
          <a:p>
            <a:r>
              <a:t>METHOD AND ITS LIMIT. This is the slide that shows judgement, do not skip it.</a:t>
            </a:r>
          </a:p>
          <a:p/>
          <a:p>
            <a:r>
              <a:t>First explain the x-axis in one sentence: for each product we built what it would have done anyway from earlier years, drew a band for ordinary month-to-month wobble, and this is how far outside that band 2025 went. Backup slide 10 shows the band on copper if anyone wants to see it.</a:t>
            </a:r>
          </a:p>
          <a:p/>
          <a:p>
            <a:r>
              <a:t>Some of these are plausible tariff stories: organic chemicals and pharmaceuticals were under open tariff threat in 2025, and gold moved into US vaults ahead of expected duties.</a:t>
            </a:r>
          </a:p>
          <a:p/>
          <a:p>
            <a:r>
              <a:t>Some are not. Silk is a 55-million-dollar chapter, so almost any month looks extreme next to its own history. Works of art and clocks are small and lumpy.</a:t>
            </a:r>
          </a:p>
          <a:p/>
          <a:p>
            <a:r>
              <a:t>Cocoa is the one to dwell on. It is on the list because cocoa prices roughly tripled after bad West African harvests. We measure in dollars, so a price spike reads as a volume surge.</a:t>
            </a:r>
          </a:p>
          <a:p/>
          <a:p>
            <a:r>
              <a:t>So the detector finds unusual months. It does not know why. Something has to connect an unusual month to an actual tariff, and that is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RAUNAK   |   this slide 1:48   |   clock at end 8:23</a:t>
            </a:r>
          </a:p>
          <a:p>
            <a:r>
              <a:t>==========================================================</a:t>
            </a:r>
          </a:p>
          <a:p>
            <a:r>
              <a:t>SAY THIS:</a:t>
            </a:r>
          </a:p>
          <a:p/>
          <a:p>
            <a:r>
              <a:t>A tariff order never says "chapter 74, copper". It points at a list of specific eight digit codes,</a:t>
            </a:r>
          </a:p>
          <a:p>
            <a:r>
              <a:t>usually in a separate legal notice. So if you haven't read those lists, there's only one thing you</a:t>
            </a:r>
          </a:p>
          <a:p>
            <a:r>
              <a:t>can do. You mark a whole product group as tariffed whenever any action touches anything inside it.</a:t>
            </a:r>
          </a:p>
          <a:p/>
          <a:p>
            <a:r>
              <a:t>That's what we did. And we got nothing.</a:t>
            </a:r>
          </a:p>
          <a:p/>
          <a:p>
            <a:r>
              <a:t>So we went and read the lists. Nine thousand and eighty three eight digit codes.</a:t>
            </a:r>
          </a:p>
          <a:p/>
          <a:p>
            <a:r>
              <a:t>Figure 5 is what we found. Each bar counts a tariff action paired with a product group. The</a:t>
            </a:r>
          </a:p>
          <a:p>
            <a:r>
              <a:t>typical one covers about five percent of that group's value, and the red on the left is a third of</a:t>
            </a:r>
          </a:p>
          <a:p>
            <a:r>
              <a:t>them covering less than one percent.</a:t>
            </a:r>
          </a:p>
          <a:p/>
          <a:p>
            <a:r>
              <a:t>Copper again. Ten actions touch copper. Three cover more than half of it. The other seven cover</a:t>
            </a:r>
          </a:p>
          <a:p>
            <a:r>
              <a:t>less than one percent.</a:t>
            </a:r>
          </a:p>
          <a:p/>
          <a:p>
            <a:r>
              <a:t>And that's why we got nothing. If you label a product group tariffed when ninety-five percent of</a:t>
            </a:r>
          </a:p>
          <a:p>
            <a:r>
              <a:t>it wasn't, the real reaction in that five percent gets averaged away by everything that didn't</a:t>
            </a:r>
          </a:p>
          <a:p>
            <a:r>
              <a:t>move. The zero wasn't telling us about the world. It was telling us about our ruler.</a:t>
            </a:r>
          </a:p>
          <a:p/>
          <a:p>
            <a:r>
              <a:t>It was one of three reasons, and it's the one that isn't just our problem. Anyone doing this</a:t>
            </a:r>
          </a:p>
          <a:p>
            <a:r>
              <a:t>would hit it.</a:t>
            </a:r>
          </a:p>
          <a:p/>
          <a:p>
            <a:r>
              <a:t>The fix is to work at eight digits, where a tariff either names a product or it doesn't.</a:t>
            </a:r>
          </a:p>
          <a:p>
            <a:r>
              <a:t>Everything from here is built that way.</a:t>
            </a:r>
          </a:p>
          <a:p/>
          <a:p>
            <a:r>
              <a:t>==========================================================</a:t>
            </a:r>
          </a:p>
          <a:p>
            <a:r>
              <a:t>HOW TO SAY IT: Slow down. This is the slide that matters most. Point at the red bars on the left.</a:t>
            </a:r>
          </a:p>
          <a:p/>
          <a:p>
            <a:r>
              <a:t>==========================================================</a:t>
            </a:r>
          </a:p>
          <a:p>
            <a:r>
              <a:t>BACKGROUND, not for saying out loud:</a:t>
            </a:r>
          </a:p>
          <a:p/>
          <a:p>
            <a:r>
              <a:t>THE KEY SLIDE. If time runs short, this is the one that must survive.</a:t>
            </a:r>
          </a:p>
          <a:p/>
          <a:p>
            <a:r>
              <a:t>A tariff order does not say 'chapter 74, copper'. It points at a list of 8-digit product codes, usually published in a separate legal notice. Until you read those lists, the only thing you can do is treat a whole chapter as tariffed whenever an action touches anything inside it.</a:t>
            </a:r>
          </a:p>
          <a:p/>
          <a:p>
            <a:r>
              <a:t>We read them: 9,083 distinct 8-digit codes across 162 surcharge codes. Say 'surcharge codes' and not 'actions', because 134 is the number of Federal Register actions and the two are not the same thing.</a:t>
            </a:r>
          </a:p>
          <a:p/>
          <a:p>
            <a:r>
              <a:t>The typical action covers about 5% of its chapter's value. A third cover under 1%.</a:t>
            </a:r>
          </a:p>
          <a:p/>
          <a:p>
            <a:r>
              <a:t>So chapter-level treatment means roughly 95% of what you are measuring is trade the tariff never touched. Any real reaction in the 5% gets averaged away by the 95% that did nothing.</a:t>
            </a:r>
          </a:p>
          <a:p/>
          <a:p>
            <a:r>
              <a:t>That is exactly what happened to us. Our first attempt to measure an effect found nothing. The null was our ruler, not the world.</a:t>
            </a:r>
          </a:p>
          <a:p/>
          <a:p>
            <a:r>
              <a:t>SAY 'ONE OF THREE REASONS'. coverage/FINDINGS.md lists three causes of that null and ranks this one second. The first is that our announcement dates are mostly implementing notices, so the median official window is nine days and there is barely any anticipation period left in the data; the copper story on slide 2 is the answer to that, since the rush runs on news rather than on documents. The third is that the partner dimension was collapsed, which the across-origins design on slide 8 fixes. Dilution is the one that generalizes beyond us, which is why it is the one on the slide. Do not call it the reason.</a:t>
            </a:r>
          </a:p>
          <a:p/>
          <a:p>
            <a:r>
              <a:t>The fix is to work at the 8-digit level, where a tariff either names a product or it does not. Everything after this is built that way.</a:t>
            </a:r>
          </a:p>
          <a:p/>
          <a:p>
            <a:r>
              <a:t>-- NARRATE IT THROUGH COPPER, which they already know from slides 2, 5 and 6 --</a:t>
            </a:r>
          </a:p>
          <a:p>
            <a:r>
              <a:t>The copper line is on the slide now, so do not just read it. Read it once, then add the part that is not up there:</a:t>
            </a:r>
          </a:p>
          <a:p>
            <a:r>
              <a:t>Ten separate tariff actions touch copper, chapter 74. Three of them cover more than half the chapter: 95%, 59%, 59%. The other seven cover under 1%, and several are civil-aircraft carve-outs that name a single product line. The median action touching copper covers less than a tenth of one percent of it.</a:t>
            </a:r>
          </a:p>
          <a:p>
            <a:r>
              <a:t>So if you mark copper as tariffed whenever any action fires, seven times out of ten you have flagged an entire chapter over something touching less than one percent of it. That is what the chart shows, across all 1,350 action-chapter pairs.</a:t>
            </a:r>
          </a:p>
          <a:p/>
          <a:p>
            <a:r>
              <a:t>IF ASKED '5% of what exactly': the median is taken over the 1,350 action-chapter pairs. Collapse it to one number per action and the median is 1.3%, so the slide is the conservative version.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RAUNAK   |   this slide 1:31   |   clock at end 9:54</a:t>
            </a:r>
          </a:p>
          <a:p>
            <a:r>
              <a:t>==========================================================</a:t>
            </a:r>
          </a:p>
          <a:p>
            <a:r>
              <a:t>SAY THIS:</a:t>
            </a:r>
          </a:p>
          <a:p/>
          <a:p>
            <a:r>
              <a:t>Built and checked. We've got 140 months of trade at the level tariffs are actually written, and it</a:t>
            </a:r>
          </a:p>
          <a:p>
            <a:r>
              <a:t>adds up to the published totals.</a:t>
            </a:r>
          </a:p>
          <a:p/>
          <a:p>
            <a:r>
              <a:t>We've got a detector that finds unusual months, and we're upfront that on its own it can't tell a</a:t>
            </a:r>
          </a:p>
          <a:p>
            <a:r>
              <a:t>tariff from a price shock.</a:t>
            </a:r>
          </a:p>
          <a:p/>
          <a:p>
            <a:r>
              <a:t>134 tariff actions, with the real product lists behind each one.</a:t>
            </a:r>
          </a:p>
          <a:p/>
          <a:p>
            <a:r>
              <a:t>How we'll measure it, and this is what fixes the detector. Instead of comparing a product to its</a:t>
            </a:r>
          </a:p>
          <a:p>
            <a:r>
              <a:t>own past, we compare one product across countries in the same month. A price shock moves every</a:t>
            </a:r>
          </a:p>
          <a:p>
            <a:r>
              <a:t>country together so it cancels out. A tariff hits one country, so it doesn't.</a:t>
            </a:r>
          </a:p>
          <a:p/>
          <a:p>
            <a:r>
              <a:t>How we'll know it's real. Every estimate gets paired with a placebo, which is the exact same</a:t>
            </a:r>
          </a:p>
          <a:p>
            <a:r>
              <a:t>calculation with every event shifted back two years. If it doesn't separate from its placebo, we</a:t>
            </a:r>
          </a:p>
          <a:p>
            <a:r>
              <a:t>don't report it. That's already killed three methods we built.</a:t>
            </a:r>
          </a:p>
          <a:p/>
          <a:p>
            <a:r>
              <a:t>Next, question one first, then two and three for the final report.</a:t>
            </a:r>
          </a:p>
          <a:p/>
          <a:p>
            <a:r>
              <a:t>And the takeaway, even if you never touch tariff data. Don't measure this at product group level.</a:t>
            </a:r>
          </a:p>
          <a:p>
            <a:r>
              <a:t>The typical action touches five percent, so a real effect averages away to nothing.</a:t>
            </a:r>
          </a:p>
          <a:p/>
          <a:p>
            <a:r>
              <a:t>Happy to take questions.</a:t>
            </a:r>
          </a:p>
          <a:p/>
          <a:p>
            <a:r>
              <a:t>==========================================================</a:t>
            </a:r>
          </a:p>
          <a:p>
            <a:r>
              <a:t>HOW TO SAY IT: Stand still and let the list do the work. Slow down for the last two lines.</a:t>
            </a:r>
          </a:p>
          <a:p/>
          <a:p>
            <a:r>
              <a:t>==========================================================</a:t>
            </a:r>
          </a:p>
          <a:p>
            <a:r>
              <a:t>BACKGROUND, not for saying out loud:</a:t>
            </a:r>
          </a:p>
          <a:p/>
          <a:p>
            <a:r>
              <a:t>DISCUSSION AND NEXT STEPS.</a:t>
            </a:r>
          </a:p>
          <a:p/>
          <a:p>
            <a:r>
              <a:t>Be straight that this is data and limits, not results. Results come next.</a:t>
            </a:r>
          </a:p>
          <a:p/>
          <a:p>
            <a:r>
              <a:t>The fourth pair is the one to land, because it closes the problem slide 6 opened. Slide 6 said the detector cannot tell a tariff from a price shock. The answer is to stop comparing a product to its own past and start comparing it across origins in the same month: cocoa got more expensive for everyone, so every origin moves together and the comparison cancels it out. A tariff hits one origin, so it does not cancel. That one sentence is the method of the whole project.</a:t>
            </a:r>
          </a:p>
          <a:p/>
          <a:p>
            <a:r>
              <a:t>The one thing to claim as a finding: we measured why the obvious approach fails, and the number is 5%.</a:t>
            </a:r>
          </a:p>
          <a:p/>
          <a:p>
            <a:r>
              <a:t>If asked 'so is there a rush?': we now have the data and the product-level matching to answer it, and the chapter-level version of the question was unanswerable for the reason on the previous slide.</a:t>
            </a:r>
          </a:p>
          <a:p/>
          <a:p>
            <a:r>
              <a:t>If asked 'who exactly is the customer?': the decision is where to source next and when, and it sits with whoever is exposed to a particular country rather than to total volume. Say we are still testing which of those the data best serves. True, and better than naming one confidently.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not part of the talk. Use if asked where the tariff dates come from or how many actions there are.</a:t>
            </a:r>
          </a:p>
          <a:p/>
          <a:p>
            <a:r>
              <a:t>Two waves: 2018-19, and a much bigger one in 2025. The legal authority turns out to matter, which is why they are split out here.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not part of the talk. Use if asked how the normal range on slide 6 is built.</a:t>
            </a:r>
          </a:p>
          <a:p/>
          <a:p>
            <a:r>
              <a:t>Copper peaks 89% above normal against a band of 50%, so it clears.</a:t>
            </a:r>
          </a:p>
          <a:p/>
          <a:p>
            <a:r>
              <a:t>Aluminum does NOT clear: it peaks at 26% against a band of 100%, because its own history is volatile. Same tariff year, and the test says no. A test that can say no is the only kind worth having.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not part of the talk. Use if asked about prior work.</a:t>
            </a:r>
          </a:p>
          <a:p/>
          <a:p>
            <a:r>
              <a:t>The two that matter: [1] is the frontier paper on this exact shock and it works at HS-10, stating that the 2018 tariff increases were 'predominantly set at the 8-digit Harmonized System level'. That is why we pull at HS10 and analyse at HS8.</a:t>
            </a:r>
          </a:p>
          <a:p/>
          <a:p>
            <a:r>
              <a:t>[2] is USITC's own work estimating the same elasticity at HTS 2, 4, 6 and 8 digits and finding that estimates from aggregated data are smaller, which they attribute to heterogeneity bias. Our 5% number is the specific version of that general result.</a:t>
            </a:r>
          </a:p>
          <a:p/>
          <a:p>
            <a:r>
              <a:t>[4] faced the same problem and solved it the way we did: a continuous value-weighted coverage share instead of a binary tariffed/not flag.</a:t>
            </a:r>
          </a:p>
          <a:p/>
          <a:p>
            <a:r>
              <a:t>[3] is the general statement of the same aggregation problem outside tariffs. [5] is the closest prior work on front-loading itself: trade responds to tariff changes that are announced in advance, which is the behaviour slide 2 shows. [6] is the decomposition behind the normal range on slide 6 and backup slide 10.</a:t>
            </a:r>
          </a:p>
          <a:p/>
          <a:p>
            <a:r>
              <a:t>Worth saying plainly if asked: nobody appears to have published the specific diagnostic we ran, which is to assign treatment at chapter level when the tariff names HS8 and measure how much of the chapter that actually covers. The general attenuation result is known; the number for US tariff actions is ours.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cxnSp>
        <p:nvCxnSpPr>
          <p:cNvPr id="2" name="Connector 1"/>
          <p:cNvCxnSpPr/>
          <p:nvPr/>
        </p:nvCxnSpPr>
        <p:spPr>
          <a:xfrm>
            <a:off x="685800" y="676656"/>
            <a:ext cx="10817352" cy="0"/>
          </a:xfrm>
          <a:prstGeom prst="line">
            <a:avLst/>
          </a:prstGeom>
          <a:ln w="9525">
            <a:solidFill>
              <a:srgbClr val="6E737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685800" y="1874519"/>
            <a:ext cx="10817352" cy="960120"/>
          </a:xfrm>
          <a:prstGeom prst="rect">
            <a:avLst/>
          </a:prstGeom>
          <a:noFill/>
        </p:spPr>
        <p:txBody>
          <a:bodyPr wrap="square">
            <a:spAutoFit/>
          </a:bodyPr>
          <a:lstStyle/>
          <a:p>
            <a:pPr algn="l">
              <a:lnSpc>
                <a:spcPct val="100000"/>
              </a:lnSpc>
            </a:pPr>
            <a:r>
              <a:rPr sz="4800" b="1" i="0">
                <a:solidFill>
                  <a:srgbClr val="14161A"/>
                </a:solidFill>
                <a:latin typeface="Avenir Next"/>
              </a:rPr>
              <a:t>Borrowed or Real</a:t>
            </a:r>
          </a:p>
        </p:txBody>
      </p:sp>
      <p:sp>
        <p:nvSpPr>
          <p:cNvPr id="4" name="TextBox 3"/>
          <p:cNvSpPr txBox="1"/>
          <p:nvPr/>
        </p:nvSpPr>
        <p:spPr>
          <a:xfrm>
            <a:off x="685800" y="2852928"/>
            <a:ext cx="10817352" cy="640080"/>
          </a:xfrm>
          <a:prstGeom prst="rect">
            <a:avLst/>
          </a:prstGeom>
          <a:noFill/>
        </p:spPr>
        <p:txBody>
          <a:bodyPr wrap="square">
            <a:spAutoFit/>
          </a:bodyPr>
          <a:lstStyle/>
          <a:p>
            <a:pPr algn="l">
              <a:lnSpc>
                <a:spcPct val="100000"/>
              </a:lnSpc>
            </a:pPr>
            <a:r>
              <a:rPr sz="2500" b="0" i="0">
                <a:solidFill>
                  <a:srgbClr val="C8102E"/>
                </a:solidFill>
                <a:latin typeface="Avenir Next"/>
              </a:rPr>
              <a:t>Forecasting import surges around U.S. tariffs</a:t>
            </a:r>
          </a:p>
        </p:txBody>
      </p:sp>
      <p:sp>
        <p:nvSpPr>
          <p:cNvPr id="5" name="TextBox 4"/>
          <p:cNvSpPr txBox="1"/>
          <p:nvPr/>
        </p:nvSpPr>
        <p:spPr>
          <a:xfrm>
            <a:off x="685800" y="3822191"/>
            <a:ext cx="10817352" cy="457200"/>
          </a:xfrm>
          <a:prstGeom prst="rect">
            <a:avLst/>
          </a:prstGeom>
          <a:noFill/>
        </p:spPr>
        <p:txBody>
          <a:bodyPr wrap="square">
            <a:spAutoFit/>
          </a:bodyPr>
          <a:lstStyle/>
          <a:p>
            <a:pPr algn="l">
              <a:lnSpc>
                <a:spcPct val="100000"/>
              </a:lnSpc>
            </a:pPr>
            <a:r>
              <a:rPr sz="1800" b="1" i="0">
                <a:solidFill>
                  <a:srgbClr val="14161A"/>
                </a:solidFill>
                <a:latin typeface="Avenir Next"/>
              </a:rPr>
              <a:t>Rahul Reddy Mandadi   +   Raunaksingh Khalsa</a:t>
            </a:r>
          </a:p>
        </p:txBody>
      </p:sp>
      <p:sp>
        <p:nvSpPr>
          <p:cNvPr id="6" name="TextBox 5"/>
          <p:cNvSpPr txBox="1"/>
          <p:nvPr/>
        </p:nvSpPr>
        <p:spPr>
          <a:xfrm>
            <a:off x="685800" y="4261104"/>
            <a:ext cx="10817352" cy="457200"/>
          </a:xfrm>
          <a:prstGeom prst="rect">
            <a:avLst/>
          </a:prstGeom>
          <a:noFill/>
        </p:spPr>
        <p:txBody>
          <a:bodyPr wrap="square">
            <a:spAutoFit/>
          </a:bodyPr>
          <a:lstStyle/>
          <a:p>
            <a:pPr algn="l">
              <a:lnSpc>
                <a:spcPct val="100000"/>
              </a:lnSpc>
            </a:pPr>
            <a:r>
              <a:rPr sz="1300" b="0" i="0">
                <a:solidFill>
                  <a:srgbClr val="6E737C"/>
                </a:solidFill>
                <a:latin typeface="Avenir Next"/>
              </a:rPr>
              <a:t>DS 5500 Data Science Capstone   |   Presentation 1   |   October 2026</a:t>
            </a:r>
          </a:p>
        </p:txBody>
      </p:sp>
      <p:sp>
        <p:nvSpPr>
          <p:cNvPr id="7" name="TextBox 6"/>
          <p:cNvSpPr txBox="1"/>
          <p:nvPr/>
        </p:nvSpPr>
        <p:spPr>
          <a:xfrm>
            <a:off x="685800" y="5047488"/>
            <a:ext cx="10817352" cy="822960"/>
          </a:xfrm>
          <a:prstGeom prst="rect">
            <a:avLst/>
          </a:prstGeom>
          <a:noFill/>
        </p:spPr>
        <p:txBody>
          <a:bodyPr wrap="square">
            <a:spAutoFit/>
          </a:bodyPr>
          <a:lstStyle/>
          <a:p>
            <a:pPr algn="l">
              <a:lnSpc>
                <a:spcPct val="100000"/>
              </a:lnSpc>
            </a:pPr>
            <a:r>
              <a:rPr sz="1300" b="0" i="0">
                <a:solidFill>
                  <a:srgbClr val="6E737C"/>
                </a:solidFill>
                <a:latin typeface="Avenir Next"/>
              </a:rPr>
              <a:t>Stakeholders: importers looking for a new supplier, lenders exposed to a single</a:t>
            </a:r>
          </a:p>
          <a:p>
            <a:pPr algn="l">
              <a:lnSpc>
                <a:spcPct val="100000"/>
              </a:lnSpc>
            </a:pPr>
            <a:r>
              <a:rPr sz="1300" b="0" i="0">
                <a:solidFill>
                  <a:srgbClr val="6E737C"/>
                </a:solidFill>
                <a:latin typeface="Avenir Next"/>
              </a:rPr>
              <a:t>origin, carriers serving an affected trade lane</a:t>
            </a:r>
          </a:p>
        </p:txBody>
      </p:sp>
      <p:sp>
        <p:nvSpPr>
          <p:cNvPr id="8" name="TextBox 7"/>
          <p:cNvSpPr txBox="1"/>
          <p:nvPr/>
        </p:nvSpPr>
        <p:spPr>
          <a:xfrm>
            <a:off x="685800" y="5897880"/>
            <a:ext cx="10817352" cy="365760"/>
          </a:xfrm>
          <a:prstGeom prst="rect">
            <a:avLst/>
          </a:prstGeom>
          <a:noFill/>
        </p:spPr>
        <p:txBody>
          <a:bodyPr wrap="square">
            <a:spAutoFit/>
          </a:bodyPr>
          <a:lstStyle/>
          <a:p>
            <a:pPr algn="l">
              <a:lnSpc>
                <a:spcPct val="100000"/>
              </a:lnSpc>
            </a:pPr>
            <a:r>
              <a:rPr sz="1300" b="1" i="0">
                <a:solidFill>
                  <a:srgbClr val="C8102E"/>
                </a:solidFill>
                <a:latin typeface="Avenir Next"/>
              </a:rPr>
              <a:t>github.com/rahul-mandadi/tariff-rush</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0" y="292608"/>
            <a:ext cx="6016752" cy="274320"/>
          </a:xfrm>
          <a:prstGeom prst="rect">
            <a:avLst/>
          </a:prstGeom>
          <a:noFill/>
        </p:spPr>
        <p:txBody>
          <a:bodyPr wrap="square">
            <a:spAutoFit/>
          </a:bodyPr>
          <a:lstStyle/>
          <a:p>
            <a:pPr algn="r">
              <a:lnSpc>
                <a:spcPct val="100000"/>
              </a:lnSpc>
            </a:pPr>
            <a:r>
              <a:rPr sz="900" b="0" i="0">
                <a:solidFill>
                  <a:srgbClr val="6E737C"/>
                </a:solidFill>
                <a:latin typeface="Avenir Next"/>
              </a:rPr>
              <a:t>RAHUL REDDY MANDADI   +   RAUNAKSINGH KHALSA</a:t>
            </a:r>
          </a:p>
        </p:txBody>
      </p:sp>
      <p:cxnSp>
        <p:nvCxnSpPr>
          <p:cNvPr id="3" name="Connector 2"/>
          <p:cNvCxnSpPr/>
          <p:nvPr/>
        </p:nvCxnSpPr>
        <p:spPr>
          <a:xfrm>
            <a:off x="685800" y="676656"/>
            <a:ext cx="10817352" cy="0"/>
          </a:xfrm>
          <a:prstGeom prst="line">
            <a:avLst/>
          </a:prstGeom>
          <a:ln w="9525">
            <a:solidFill>
              <a:srgbClr val="6E737C"/>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85800" y="868680"/>
            <a:ext cx="10817352" cy="731520"/>
          </a:xfrm>
          <a:prstGeom prst="rect">
            <a:avLst/>
          </a:prstGeom>
          <a:noFill/>
        </p:spPr>
        <p:txBody>
          <a:bodyPr wrap="square">
            <a:spAutoFit/>
          </a:bodyPr>
          <a:lstStyle/>
          <a:p>
            <a:pPr algn="l">
              <a:lnSpc>
                <a:spcPct val="100000"/>
              </a:lnSpc>
            </a:pPr>
            <a:r>
              <a:rPr sz="3800" b="1" i="0">
                <a:solidFill>
                  <a:srgbClr val="14161A"/>
                </a:solidFill>
                <a:latin typeface="Avenir Next"/>
              </a:rPr>
              <a:t>Every tariff comes with a date.</a:t>
            </a:r>
          </a:p>
        </p:txBody>
      </p:sp>
      <p:pic>
        <p:nvPicPr>
          <p:cNvPr id="5" name="Picture 4" descr="01_context.png"/>
          <p:cNvPicPr>
            <a:picLocks noChangeAspect="1"/>
          </p:cNvPicPr>
          <p:nvPr/>
        </p:nvPicPr>
        <p:blipFill>
          <a:blip r:embed="rId2"/>
          <a:stretch>
            <a:fillRect/>
          </a:stretch>
        </p:blipFill>
        <p:spPr>
          <a:xfrm>
            <a:off x="1920906" y="1874519"/>
            <a:ext cx="8349882" cy="3822192"/>
          </a:xfrm>
          <a:prstGeom prst="rect">
            <a:avLst/>
          </a:prstGeom>
        </p:spPr>
      </p:pic>
      <p:sp>
        <p:nvSpPr>
          <p:cNvPr id="6" name="TextBox 5"/>
          <p:cNvSpPr txBox="1"/>
          <p:nvPr/>
        </p:nvSpPr>
        <p:spPr>
          <a:xfrm>
            <a:off x="685800" y="5897880"/>
            <a:ext cx="10817352" cy="685800"/>
          </a:xfrm>
          <a:prstGeom prst="rect">
            <a:avLst/>
          </a:prstGeom>
          <a:noFill/>
        </p:spPr>
        <p:txBody>
          <a:bodyPr wrap="square">
            <a:spAutoFit/>
          </a:bodyPr>
          <a:lstStyle/>
          <a:p>
            <a:pPr algn="l">
              <a:lnSpc>
                <a:spcPct val="112000"/>
              </a:lnSpc>
            </a:pPr>
            <a:r>
              <a:rPr sz="1700" b="0" i="0">
                <a:solidFill>
                  <a:srgbClr val="6E737C"/>
                </a:solidFill>
                <a:latin typeface="Avenir Next"/>
              </a:rPr>
              <a:t>Fig. 1   Copper imports. Announced July 2025, in force from August.</a:t>
            </a:r>
          </a:p>
          <a:p>
            <a:pPr algn="l">
              <a:lnSpc>
                <a:spcPct val="112000"/>
              </a:lnSpc>
            </a:pPr>
            <a:r>
              <a:rPr sz="1700" b="0" i="0">
                <a:solidFill>
                  <a:srgbClr val="6E737C"/>
                </a:solidFill>
                <a:latin typeface="Avenir Next"/>
              </a:rPr>
              <a:t>Imports had been climbing since February, because the duty was expected.</a:t>
            </a:r>
          </a:p>
          <a:p>
            <a:pPr algn="l">
              <a:lnSpc>
                <a:spcPct val="112000"/>
              </a:lnSpc>
            </a:pPr>
            <a:r>
              <a:rPr sz="1700" b="0" i="0">
                <a:solidFill>
                  <a:srgbClr val="6E737C"/>
                </a:solidFill>
                <a:latin typeface="Avenir Next"/>
              </a:rPr>
              <a:t>Goods pulled forward are borrowed from later months, the question in our title [5].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0" y="292608"/>
            <a:ext cx="6016752" cy="274320"/>
          </a:xfrm>
          <a:prstGeom prst="rect">
            <a:avLst/>
          </a:prstGeom>
          <a:noFill/>
        </p:spPr>
        <p:txBody>
          <a:bodyPr wrap="square">
            <a:spAutoFit/>
          </a:bodyPr>
          <a:lstStyle/>
          <a:p>
            <a:pPr algn="r">
              <a:lnSpc>
                <a:spcPct val="100000"/>
              </a:lnSpc>
            </a:pPr>
            <a:r>
              <a:rPr sz="900" b="0" i="0">
                <a:solidFill>
                  <a:srgbClr val="6E737C"/>
                </a:solidFill>
                <a:latin typeface="Avenir Next"/>
              </a:rPr>
              <a:t>RAHUL REDDY MANDADI   +   RAUNAKSINGH KHALSA</a:t>
            </a:r>
          </a:p>
        </p:txBody>
      </p:sp>
      <p:cxnSp>
        <p:nvCxnSpPr>
          <p:cNvPr id="3" name="Connector 2"/>
          <p:cNvCxnSpPr/>
          <p:nvPr/>
        </p:nvCxnSpPr>
        <p:spPr>
          <a:xfrm>
            <a:off x="685800" y="676656"/>
            <a:ext cx="10817352" cy="0"/>
          </a:xfrm>
          <a:prstGeom prst="line">
            <a:avLst/>
          </a:prstGeom>
          <a:ln w="9525">
            <a:solidFill>
              <a:srgbClr val="6E737C"/>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85800" y="868680"/>
            <a:ext cx="10817352" cy="731520"/>
          </a:xfrm>
          <a:prstGeom prst="rect">
            <a:avLst/>
          </a:prstGeom>
          <a:noFill/>
        </p:spPr>
        <p:txBody>
          <a:bodyPr wrap="square">
            <a:spAutoFit/>
          </a:bodyPr>
          <a:lstStyle/>
          <a:p>
            <a:pPr algn="l">
              <a:lnSpc>
                <a:spcPct val="100000"/>
              </a:lnSpc>
            </a:pPr>
            <a:r>
              <a:rPr sz="3800" b="1" i="0">
                <a:solidFill>
                  <a:srgbClr val="14161A"/>
                </a:solidFill>
                <a:latin typeface="Avenir Next"/>
              </a:rPr>
              <a:t>The decision comes before the data.</a:t>
            </a:r>
          </a:p>
        </p:txBody>
      </p:sp>
      <p:pic>
        <p:nvPicPr>
          <p:cNvPr id="5" name="Picture 4" descr="02_timeline.png"/>
          <p:cNvPicPr>
            <a:picLocks noChangeAspect="1"/>
          </p:cNvPicPr>
          <p:nvPr/>
        </p:nvPicPr>
        <p:blipFill>
          <a:blip r:embed="rId2"/>
          <a:stretch>
            <a:fillRect/>
          </a:stretch>
        </p:blipFill>
        <p:spPr>
          <a:xfrm>
            <a:off x="687171" y="1874519"/>
            <a:ext cx="10817352" cy="3682239"/>
          </a:xfrm>
          <a:prstGeom prst="rect">
            <a:avLst/>
          </a:prstGeom>
        </p:spPr>
      </p:pic>
      <p:sp>
        <p:nvSpPr>
          <p:cNvPr id="6" name="TextBox 5"/>
          <p:cNvSpPr txBox="1"/>
          <p:nvPr/>
        </p:nvSpPr>
        <p:spPr>
          <a:xfrm>
            <a:off x="685800" y="5897880"/>
            <a:ext cx="10817352" cy="685800"/>
          </a:xfrm>
          <a:prstGeom prst="rect">
            <a:avLst/>
          </a:prstGeom>
          <a:noFill/>
        </p:spPr>
        <p:txBody>
          <a:bodyPr wrap="square">
            <a:spAutoFit/>
          </a:bodyPr>
          <a:lstStyle/>
          <a:p>
            <a:pPr algn="l">
              <a:lnSpc>
                <a:spcPct val="112000"/>
              </a:lnSpc>
            </a:pPr>
            <a:r>
              <a:rPr sz="1700" b="0" i="0">
                <a:solidFill>
                  <a:srgbClr val="6E737C"/>
                </a:solidFill>
                <a:latin typeface="Avenir Next"/>
              </a:rPr>
              <a:t>Fig. 2   Importers, lenders and carriers all decide here.</a:t>
            </a:r>
          </a:p>
          <a:p>
            <a:pPr algn="l">
              <a:lnSpc>
                <a:spcPct val="112000"/>
              </a:lnSpc>
            </a:pPr>
            <a:r>
              <a:rPr sz="1700" b="0" i="0">
                <a:solidFill>
                  <a:srgbClr val="6E737C"/>
                </a:solidFill>
                <a:latin typeface="Avenir Next"/>
              </a:rPr>
              <a:t>Census publishes monthly trade about five weeks after the month closes.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0" y="292608"/>
            <a:ext cx="6016752" cy="274320"/>
          </a:xfrm>
          <a:prstGeom prst="rect">
            <a:avLst/>
          </a:prstGeom>
          <a:noFill/>
        </p:spPr>
        <p:txBody>
          <a:bodyPr wrap="square">
            <a:spAutoFit/>
          </a:bodyPr>
          <a:lstStyle/>
          <a:p>
            <a:pPr algn="r">
              <a:lnSpc>
                <a:spcPct val="100000"/>
              </a:lnSpc>
            </a:pPr>
            <a:r>
              <a:rPr sz="900" b="0" i="0">
                <a:solidFill>
                  <a:srgbClr val="6E737C"/>
                </a:solidFill>
                <a:latin typeface="Avenir Next"/>
              </a:rPr>
              <a:t>RAHUL REDDY MANDADI   +   RAUNAKSINGH KHALSA</a:t>
            </a:r>
          </a:p>
        </p:txBody>
      </p:sp>
      <p:cxnSp>
        <p:nvCxnSpPr>
          <p:cNvPr id="3" name="Connector 2"/>
          <p:cNvCxnSpPr/>
          <p:nvPr/>
        </p:nvCxnSpPr>
        <p:spPr>
          <a:xfrm>
            <a:off x="685800" y="676656"/>
            <a:ext cx="10817352" cy="0"/>
          </a:xfrm>
          <a:prstGeom prst="line">
            <a:avLst/>
          </a:prstGeom>
          <a:ln w="9525">
            <a:solidFill>
              <a:srgbClr val="6E737C"/>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85800" y="868680"/>
            <a:ext cx="10817352" cy="731520"/>
          </a:xfrm>
          <a:prstGeom prst="rect">
            <a:avLst/>
          </a:prstGeom>
          <a:noFill/>
        </p:spPr>
        <p:txBody>
          <a:bodyPr wrap="square">
            <a:spAutoFit/>
          </a:bodyPr>
          <a:lstStyle/>
          <a:p>
            <a:pPr algn="l">
              <a:lnSpc>
                <a:spcPct val="100000"/>
              </a:lnSpc>
            </a:pPr>
            <a:r>
              <a:rPr sz="3800" b="1" i="0">
                <a:solidFill>
                  <a:srgbClr val="14161A"/>
                </a:solidFill>
                <a:latin typeface="Avenir Next"/>
              </a:rPr>
              <a:t>So we ask three questions.</a:t>
            </a:r>
          </a:p>
        </p:txBody>
      </p:sp>
      <p:sp>
        <p:nvSpPr>
          <p:cNvPr id="5" name="TextBox 4"/>
          <p:cNvSpPr txBox="1"/>
          <p:nvPr/>
        </p:nvSpPr>
        <p:spPr>
          <a:xfrm>
            <a:off x="685800" y="5897880"/>
            <a:ext cx="10817352" cy="685800"/>
          </a:xfrm>
          <a:prstGeom prst="rect">
            <a:avLst/>
          </a:prstGeom>
          <a:noFill/>
        </p:spPr>
        <p:txBody>
          <a:bodyPr wrap="square">
            <a:spAutoFit/>
          </a:bodyPr>
          <a:lstStyle/>
          <a:p>
            <a:pPr algn="l">
              <a:lnSpc>
                <a:spcPct val="112000"/>
              </a:lnSpc>
            </a:pPr>
            <a:r>
              <a:rPr sz="1700" b="0" i="0">
                <a:solidFill>
                  <a:srgbClr val="6E737C"/>
                </a:solidFill>
                <a:latin typeface="Avenir Next"/>
              </a:rPr>
              <a:t>This presentation is about the data and what it can support. Results come next.</a:t>
            </a:r>
          </a:p>
        </p:txBody>
      </p:sp>
      <p:sp>
        <p:nvSpPr>
          <p:cNvPr id="6" name="TextBox 5"/>
          <p:cNvSpPr txBox="1"/>
          <p:nvPr/>
        </p:nvSpPr>
        <p:spPr>
          <a:xfrm>
            <a:off x="822960" y="1920240"/>
            <a:ext cx="10360152" cy="731520"/>
          </a:xfrm>
          <a:prstGeom prst="rect">
            <a:avLst/>
          </a:prstGeom>
          <a:noFill/>
        </p:spPr>
        <p:txBody>
          <a:bodyPr wrap="square">
            <a:spAutoFit/>
          </a:bodyPr>
          <a:lstStyle/>
          <a:p>
            <a:pPr algn="l">
              <a:lnSpc>
                <a:spcPct val="115000"/>
              </a:lnSpc>
            </a:pPr>
            <a:r>
              <a:rPr sz="2000" b="1" i="0">
                <a:solidFill>
                  <a:srgbClr val="14161A"/>
                </a:solidFill>
                <a:latin typeface="Avenir Next"/>
              </a:rPr>
              <a:t>1.  Will there be a rush, and how big?</a:t>
            </a:r>
          </a:p>
        </p:txBody>
      </p:sp>
      <p:sp>
        <p:nvSpPr>
          <p:cNvPr id="7" name="TextBox 6"/>
          <p:cNvSpPr txBox="1"/>
          <p:nvPr/>
        </p:nvSpPr>
        <p:spPr>
          <a:xfrm>
            <a:off x="822960" y="2377440"/>
            <a:ext cx="10360152" cy="731520"/>
          </a:xfrm>
          <a:prstGeom prst="rect">
            <a:avLst/>
          </a:prstGeom>
          <a:noFill/>
        </p:spPr>
        <p:txBody>
          <a:bodyPr wrap="square">
            <a:spAutoFit/>
          </a:bodyPr>
          <a:lstStyle/>
          <a:p>
            <a:pPr algn="l">
              <a:lnSpc>
                <a:spcPct val="115000"/>
              </a:lnSpc>
            </a:pPr>
            <a:r>
              <a:rPr sz="2000" b="0" i="0">
                <a:solidFill>
                  <a:srgbClr val="6E737C"/>
                </a:solidFill>
                <a:latin typeface="Avenir Next"/>
              </a:rPr>
              <a:t>classification, then regression</a:t>
            </a:r>
          </a:p>
        </p:txBody>
      </p:sp>
      <p:sp>
        <p:nvSpPr>
          <p:cNvPr id="8" name="TextBox 7"/>
          <p:cNvSpPr txBox="1"/>
          <p:nvPr/>
        </p:nvSpPr>
        <p:spPr>
          <a:xfrm>
            <a:off x="822960" y="2834640"/>
            <a:ext cx="10360152" cy="731520"/>
          </a:xfrm>
          <a:prstGeom prst="rect">
            <a:avLst/>
          </a:prstGeom>
          <a:noFill/>
        </p:spPr>
        <p:txBody>
          <a:bodyPr wrap="square">
            <a:spAutoFit/>
          </a:bodyPr>
          <a:lstStyle/>
          <a:p>
            <a:pPr algn="l">
              <a:lnSpc>
                <a:spcPct val="115000"/>
              </a:lnSpc>
            </a:pPr>
            <a:r>
              <a:rPr sz="2000" b="1" i="0">
                <a:solidFill>
                  <a:srgbClr val="14161A"/>
                </a:solidFill>
                <a:latin typeface="Avenir Next"/>
              </a:rPr>
              <a:t>2.  What happens after the duty starts?</a:t>
            </a:r>
          </a:p>
        </p:txBody>
      </p:sp>
      <p:sp>
        <p:nvSpPr>
          <p:cNvPr id="9" name="TextBox 8"/>
          <p:cNvSpPr txBox="1"/>
          <p:nvPr/>
        </p:nvSpPr>
        <p:spPr>
          <a:xfrm>
            <a:off x="822960" y="3291840"/>
            <a:ext cx="10360152" cy="731520"/>
          </a:xfrm>
          <a:prstGeom prst="rect">
            <a:avLst/>
          </a:prstGeom>
          <a:noFill/>
        </p:spPr>
        <p:txBody>
          <a:bodyPr wrap="square">
            <a:spAutoFit/>
          </a:bodyPr>
          <a:lstStyle/>
          <a:p>
            <a:pPr algn="l">
              <a:lnSpc>
                <a:spcPct val="115000"/>
              </a:lnSpc>
            </a:pPr>
            <a:r>
              <a:rPr sz="2000" b="0" i="0">
                <a:solidFill>
                  <a:srgbClr val="6E737C"/>
                </a:solidFill>
                <a:latin typeface="Avenir Next"/>
              </a:rPr>
              <a:t>borrowed back, lost for good, or bought from somewhere else</a:t>
            </a:r>
          </a:p>
        </p:txBody>
      </p:sp>
      <p:sp>
        <p:nvSpPr>
          <p:cNvPr id="10" name="TextBox 9"/>
          <p:cNvSpPr txBox="1"/>
          <p:nvPr/>
        </p:nvSpPr>
        <p:spPr>
          <a:xfrm>
            <a:off x="822960" y="3749039"/>
            <a:ext cx="10360152" cy="731520"/>
          </a:xfrm>
          <a:prstGeom prst="rect">
            <a:avLst/>
          </a:prstGeom>
          <a:noFill/>
        </p:spPr>
        <p:txBody>
          <a:bodyPr wrap="square">
            <a:spAutoFit/>
          </a:bodyPr>
          <a:lstStyle/>
          <a:p>
            <a:pPr algn="l">
              <a:lnSpc>
                <a:spcPct val="115000"/>
              </a:lnSpc>
            </a:pPr>
            <a:r>
              <a:rPr sz="2000" b="1" i="0">
                <a:solidFill>
                  <a:srgbClr val="14161A"/>
                </a:solidFill>
                <a:latin typeface="Avenir Next"/>
              </a:rPr>
              <a:t>3.  How long does it last?</a:t>
            </a:r>
          </a:p>
        </p:txBody>
      </p:sp>
      <p:sp>
        <p:nvSpPr>
          <p:cNvPr id="11" name="TextBox 10"/>
          <p:cNvSpPr txBox="1"/>
          <p:nvPr/>
        </p:nvSpPr>
        <p:spPr>
          <a:xfrm>
            <a:off x="822960" y="4206240"/>
            <a:ext cx="10360152" cy="731520"/>
          </a:xfrm>
          <a:prstGeom prst="rect">
            <a:avLst/>
          </a:prstGeom>
          <a:noFill/>
        </p:spPr>
        <p:txBody>
          <a:bodyPr wrap="square">
            <a:spAutoFit/>
          </a:bodyPr>
          <a:lstStyle/>
          <a:p>
            <a:pPr algn="l">
              <a:lnSpc>
                <a:spcPct val="115000"/>
              </a:lnSpc>
            </a:pPr>
            <a:r>
              <a:rPr sz="2000" b="0" i="0">
                <a:solidFill>
                  <a:srgbClr val="6E737C"/>
                </a:solidFill>
                <a:latin typeface="Avenir Next"/>
              </a:rPr>
              <a:t>duration, counting episodes still running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0" y="292608"/>
            <a:ext cx="6016752" cy="274320"/>
          </a:xfrm>
          <a:prstGeom prst="rect">
            <a:avLst/>
          </a:prstGeom>
          <a:noFill/>
        </p:spPr>
        <p:txBody>
          <a:bodyPr wrap="square">
            <a:spAutoFit/>
          </a:bodyPr>
          <a:lstStyle/>
          <a:p>
            <a:pPr algn="r">
              <a:lnSpc>
                <a:spcPct val="100000"/>
              </a:lnSpc>
            </a:pPr>
            <a:r>
              <a:rPr sz="900" b="0" i="0">
                <a:solidFill>
                  <a:srgbClr val="6E737C"/>
                </a:solidFill>
                <a:latin typeface="Avenir Next"/>
              </a:rPr>
              <a:t>RAHUL REDDY MANDADI   +   RAUNAKSINGH KHALSA</a:t>
            </a:r>
          </a:p>
        </p:txBody>
      </p:sp>
      <p:cxnSp>
        <p:nvCxnSpPr>
          <p:cNvPr id="3" name="Connector 2"/>
          <p:cNvCxnSpPr/>
          <p:nvPr/>
        </p:nvCxnSpPr>
        <p:spPr>
          <a:xfrm>
            <a:off x="685800" y="676656"/>
            <a:ext cx="10817352" cy="0"/>
          </a:xfrm>
          <a:prstGeom prst="line">
            <a:avLst/>
          </a:prstGeom>
          <a:ln w="9525">
            <a:solidFill>
              <a:srgbClr val="6E737C"/>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85800" y="868680"/>
            <a:ext cx="10817352" cy="731520"/>
          </a:xfrm>
          <a:prstGeom prst="rect">
            <a:avLst/>
          </a:prstGeom>
          <a:noFill/>
        </p:spPr>
        <p:txBody>
          <a:bodyPr wrap="square">
            <a:spAutoFit/>
          </a:bodyPr>
          <a:lstStyle/>
          <a:p>
            <a:pPr algn="l">
              <a:lnSpc>
                <a:spcPct val="100000"/>
              </a:lnSpc>
            </a:pPr>
            <a:r>
              <a:rPr sz="3800" b="1" i="0">
                <a:solidFill>
                  <a:srgbClr val="14161A"/>
                </a:solidFill>
                <a:latin typeface="Avenir Next"/>
              </a:rPr>
              <a:t>What we have.</a:t>
            </a:r>
          </a:p>
        </p:txBody>
      </p:sp>
      <p:pic>
        <p:nvPicPr>
          <p:cNvPr id="5" name="Picture 4" descr="03_panel.png"/>
          <p:cNvPicPr>
            <a:picLocks noChangeAspect="1"/>
          </p:cNvPicPr>
          <p:nvPr/>
        </p:nvPicPr>
        <p:blipFill>
          <a:blip r:embed="rId2"/>
          <a:stretch>
            <a:fillRect/>
          </a:stretch>
        </p:blipFill>
        <p:spPr>
          <a:xfrm>
            <a:off x="685800" y="2057400"/>
            <a:ext cx="5989320" cy="2446973"/>
          </a:xfrm>
          <a:prstGeom prst="rect">
            <a:avLst/>
          </a:prstGeom>
        </p:spPr>
      </p:pic>
      <p:sp>
        <p:nvSpPr>
          <p:cNvPr id="6" name="TextBox 5"/>
          <p:cNvSpPr txBox="1"/>
          <p:nvPr/>
        </p:nvSpPr>
        <p:spPr>
          <a:xfrm>
            <a:off x="7040880" y="2029968"/>
            <a:ext cx="4462272" cy="365760"/>
          </a:xfrm>
          <a:prstGeom prst="rect">
            <a:avLst/>
          </a:prstGeom>
          <a:noFill/>
        </p:spPr>
        <p:txBody>
          <a:bodyPr wrap="square">
            <a:spAutoFit/>
          </a:bodyPr>
          <a:lstStyle/>
          <a:p>
            <a:pPr algn="l">
              <a:lnSpc>
                <a:spcPct val="100000"/>
              </a:lnSpc>
            </a:pPr>
            <a:r>
              <a:rPr sz="1400" b="1" i="0">
                <a:solidFill>
                  <a:srgbClr val="14161A"/>
                </a:solidFill>
                <a:latin typeface="Avenir Next"/>
              </a:rPr>
              <a:t>Table 1   One product, one country, one month.</a:t>
            </a:r>
          </a:p>
        </p:txBody>
      </p:sp>
      <p:sp>
        <p:nvSpPr>
          <p:cNvPr id="7" name="TextBox 6"/>
          <p:cNvSpPr txBox="1"/>
          <p:nvPr/>
        </p:nvSpPr>
        <p:spPr>
          <a:xfrm>
            <a:off x="7040880" y="2377440"/>
            <a:ext cx="4462272" cy="365760"/>
          </a:xfrm>
          <a:prstGeom prst="rect">
            <a:avLst/>
          </a:prstGeom>
          <a:noFill/>
        </p:spPr>
        <p:txBody>
          <a:bodyPr wrap="square">
            <a:spAutoFit/>
          </a:bodyPr>
          <a:lstStyle/>
          <a:p>
            <a:pPr algn="l">
              <a:lnSpc>
                <a:spcPct val="100000"/>
              </a:lnSpc>
            </a:pPr>
            <a:r>
              <a:rPr sz="1200" b="0" i="0">
                <a:solidFill>
                  <a:srgbClr val="6E737C"/>
                </a:solidFill>
                <a:latin typeface="Avenir Next"/>
              </a:rPr>
              <a:t>Copper, March 2025.  Two separate 8-digit lines.</a:t>
            </a:r>
          </a:p>
        </p:txBody>
      </p:sp>
      <p:sp>
        <p:nvSpPr>
          <p:cNvPr id="8" name="TextBox 7"/>
          <p:cNvSpPr txBox="1"/>
          <p:nvPr/>
        </p:nvSpPr>
        <p:spPr>
          <a:xfrm>
            <a:off x="7040880" y="2743200"/>
            <a:ext cx="4462272" cy="1737360"/>
          </a:xfrm>
          <a:prstGeom prst="rect">
            <a:avLst/>
          </a:prstGeom>
          <a:noFill/>
        </p:spPr>
        <p:txBody>
          <a:bodyPr wrap="square">
            <a:spAutoFit/>
          </a:bodyPr>
          <a:lstStyle/>
          <a:p>
            <a:pPr algn="l">
              <a:lnSpc>
                <a:spcPct val="135000"/>
              </a:lnSpc>
            </a:pPr>
            <a:r>
              <a:rPr sz="1000" b="0" i="0">
                <a:solidFill>
                  <a:srgbClr val="14161A"/>
                </a:solidFill>
                <a:latin typeface="Courier New"/>
              </a:rPr>
              <a:t>product   country     value, $          kg</a:t>
            </a:r>
          </a:p>
          <a:p>
            <a:pPr algn="l">
              <a:lnSpc>
                <a:spcPct val="135000"/>
              </a:lnSpc>
            </a:pPr>
            <a:r>
              <a:rPr sz="1000" b="0" i="0">
                <a:solidFill>
                  <a:srgbClr val="14161A"/>
                </a:solidFill>
                <a:latin typeface="Courier New"/>
              </a:rPr>
              <a:t>------------------------------------------</a:t>
            </a:r>
          </a:p>
          <a:p>
            <a:pPr algn="l">
              <a:lnSpc>
                <a:spcPct val="135000"/>
              </a:lnSpc>
            </a:pPr>
            <a:r>
              <a:rPr sz="1000" b="0" i="0">
                <a:solidFill>
                  <a:srgbClr val="14161A"/>
                </a:solidFill>
                <a:latin typeface="Courier New"/>
              </a:rPr>
              <a:t>74031100  CHILE    715,897,592  73,977,447</a:t>
            </a:r>
          </a:p>
          <a:p>
            <a:pPr algn="l">
              <a:lnSpc>
                <a:spcPct val="135000"/>
              </a:lnSpc>
            </a:pPr>
            <a:r>
              <a:rPr sz="1000" b="0" i="0">
                <a:solidFill>
                  <a:srgbClr val="14161A"/>
                </a:solidFill>
                <a:latin typeface="Courier New"/>
              </a:rPr>
              <a:t>74031100  CANADA   118,144,886  11,854,813</a:t>
            </a:r>
          </a:p>
          <a:p>
            <a:pPr algn="l">
              <a:lnSpc>
                <a:spcPct val="135000"/>
              </a:lnSpc>
            </a:pPr>
            <a:r>
              <a:rPr sz="1000" b="0" i="0">
                <a:solidFill>
                  <a:srgbClr val="14161A"/>
                </a:solidFill>
                <a:latin typeface="Courier New"/>
              </a:rPr>
              <a:t>74031100  GERMANY   93,060,459  10,000,049</a:t>
            </a:r>
          </a:p>
          <a:p>
            <a:pPr algn="l">
              <a:lnSpc>
                <a:spcPct val="135000"/>
              </a:lnSpc>
            </a:pPr>
            <a:r>
              <a:rPr sz="1000" b="0" i="0">
                <a:solidFill>
                  <a:srgbClr val="14161A"/>
                </a:solidFill>
                <a:latin typeface="Courier New"/>
              </a:rPr>
              <a:t>74081160  CANADA    78,104,444   7,467,535</a:t>
            </a:r>
          </a:p>
          <a:p>
            <a:pPr algn="l">
              <a:lnSpc>
                <a:spcPct val="135000"/>
              </a:lnSpc>
            </a:pPr>
            <a:r>
              <a:rPr sz="1000" b="0" i="0">
                <a:solidFill>
                  <a:srgbClr val="14161A"/>
                </a:solidFill>
                <a:latin typeface="Courier New"/>
              </a:rPr>
              <a:t>74031100  PERU      50,457,615   5,317,013</a:t>
            </a:r>
          </a:p>
        </p:txBody>
      </p:sp>
      <p:sp>
        <p:nvSpPr>
          <p:cNvPr id="9" name="TextBox 8"/>
          <p:cNvSpPr txBox="1"/>
          <p:nvPr/>
        </p:nvSpPr>
        <p:spPr>
          <a:xfrm>
            <a:off x="7040880" y="4315968"/>
            <a:ext cx="4462272" cy="1097280"/>
          </a:xfrm>
          <a:prstGeom prst="rect">
            <a:avLst/>
          </a:prstGeom>
          <a:noFill/>
        </p:spPr>
        <p:txBody>
          <a:bodyPr wrap="square">
            <a:spAutoFit/>
          </a:bodyPr>
          <a:lstStyle/>
          <a:p>
            <a:pPr algn="l">
              <a:lnSpc>
                <a:spcPct val="125000"/>
              </a:lnSpc>
            </a:pPr>
            <a:r>
              <a:rPr sz="1200" b="0" i="0">
                <a:solidFill>
                  <a:srgbClr val="6E737C"/>
                </a:solidFill>
                <a:latin typeface="Avenir Next"/>
              </a:rPr>
              <a:t>140 months, Jan 2015 to Aug 2026</a:t>
            </a:r>
          </a:p>
          <a:p>
            <a:pPr algn="l">
              <a:lnSpc>
                <a:spcPct val="125000"/>
              </a:lnSpc>
            </a:pPr>
            <a:r>
              <a:rPr sz="1200" b="0" i="0">
                <a:solidFill>
                  <a:srgbClr val="6E737C"/>
                </a:solidFill>
                <a:latin typeface="Avenir Next"/>
              </a:rPr>
              <a:t>15.9 million product-country-month records</a:t>
            </a:r>
          </a:p>
          <a:p>
            <a:pPr algn="l">
              <a:lnSpc>
                <a:spcPct val="125000"/>
              </a:lnSpc>
            </a:pPr>
            <a:r>
              <a:rPr sz="1200" b="0" i="0">
                <a:solidFill>
                  <a:srgbClr val="6E737C"/>
                </a:solidFill>
                <a:latin typeface="Avenir Next"/>
              </a:rPr>
              <a:t>Pulled at 10 digits, which nest inside the 8 tariffs name</a:t>
            </a:r>
          </a:p>
        </p:txBody>
      </p:sp>
      <p:sp>
        <p:nvSpPr>
          <p:cNvPr id="10" name="TextBox 9"/>
          <p:cNvSpPr txBox="1"/>
          <p:nvPr/>
        </p:nvSpPr>
        <p:spPr>
          <a:xfrm>
            <a:off x="7040880" y="5138928"/>
            <a:ext cx="4462272" cy="731520"/>
          </a:xfrm>
          <a:prstGeom prst="rect">
            <a:avLst/>
          </a:prstGeom>
          <a:noFill/>
        </p:spPr>
        <p:txBody>
          <a:bodyPr wrap="square">
            <a:spAutoFit/>
          </a:bodyPr>
          <a:lstStyle/>
          <a:p>
            <a:pPr algn="l">
              <a:lnSpc>
                <a:spcPct val="125000"/>
              </a:lnSpc>
            </a:pPr>
            <a:r>
              <a:rPr sz="1200" b="1" i="0">
                <a:solidFill>
                  <a:srgbClr val="14161A"/>
                </a:solidFill>
                <a:latin typeface="Avenir Next"/>
              </a:rPr>
              <a:t>Census trade API  +  Federal Register API</a:t>
            </a:r>
          </a:p>
          <a:p>
            <a:pPr algn="l">
              <a:lnSpc>
                <a:spcPct val="125000"/>
              </a:lnSpc>
            </a:pPr>
            <a:r>
              <a:rPr sz="1200" b="1" i="0">
                <a:solidFill>
                  <a:srgbClr val="14161A"/>
                </a:solidFill>
                <a:latin typeface="Avenir Next"/>
              </a:rPr>
              <a:t>2,792 documents, 134 real tariff actions</a:t>
            </a:r>
          </a:p>
        </p:txBody>
      </p:sp>
      <p:sp>
        <p:nvSpPr>
          <p:cNvPr id="11" name="TextBox 10"/>
          <p:cNvSpPr txBox="1"/>
          <p:nvPr/>
        </p:nvSpPr>
        <p:spPr>
          <a:xfrm>
            <a:off x="685800" y="5897880"/>
            <a:ext cx="10817352" cy="914400"/>
          </a:xfrm>
          <a:prstGeom prst="rect">
            <a:avLst/>
          </a:prstGeom>
          <a:noFill/>
        </p:spPr>
        <p:txBody>
          <a:bodyPr wrap="square">
            <a:spAutoFit/>
          </a:bodyPr>
          <a:lstStyle/>
          <a:p>
            <a:pPr algn="l">
              <a:lnSpc>
                <a:spcPct val="110000"/>
              </a:lnSpc>
            </a:pPr>
            <a:r>
              <a:rPr sz="1600" b="0" i="0">
                <a:solidFill>
                  <a:srgbClr val="6E737C"/>
                </a:solidFill>
                <a:latin typeface="Avenir Next"/>
              </a:rPr>
              <a:t>Fig. 3   Imports we cover, by year; the grey 2026 bar is eight months, not twelve.</a:t>
            </a:r>
          </a:p>
          <a:p>
            <a:pPr algn="l">
              <a:lnSpc>
                <a:spcPct val="110000"/>
              </a:lnSpc>
            </a:pPr>
            <a:r>
              <a:rPr sz="1600" b="0" i="0">
                <a:solidFill>
                  <a:srgbClr val="6E737C"/>
                </a:solidFill>
                <a:latin typeface="Avenir Next"/>
              </a:rPr>
              <a:t>2017 adds up to 2,340 billion dollars against a published 2.34 trillion, and all 140</a:t>
            </a:r>
          </a:p>
          <a:p>
            <a:pPr algn="l">
              <a:lnSpc>
                <a:spcPct val="110000"/>
              </a:lnSpc>
            </a:pPr>
            <a:r>
              <a:rPr sz="1600" b="0" i="0">
                <a:solidFill>
                  <a:srgbClr val="6E737C"/>
                </a:solidFill>
                <a:latin typeface="Avenir Next"/>
              </a:rPr>
              <a:t>months match a separate total the API returns on its own.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0" y="292608"/>
            <a:ext cx="6016752" cy="274320"/>
          </a:xfrm>
          <a:prstGeom prst="rect">
            <a:avLst/>
          </a:prstGeom>
          <a:noFill/>
        </p:spPr>
        <p:txBody>
          <a:bodyPr wrap="square">
            <a:spAutoFit/>
          </a:bodyPr>
          <a:lstStyle/>
          <a:p>
            <a:pPr algn="r">
              <a:lnSpc>
                <a:spcPct val="100000"/>
              </a:lnSpc>
            </a:pPr>
            <a:r>
              <a:rPr sz="900" b="0" i="0">
                <a:solidFill>
                  <a:srgbClr val="6E737C"/>
                </a:solidFill>
                <a:latin typeface="Avenir Next"/>
              </a:rPr>
              <a:t>RAHUL REDDY MANDADI   +   RAUNAKSINGH KHALSA</a:t>
            </a:r>
          </a:p>
        </p:txBody>
      </p:sp>
      <p:cxnSp>
        <p:nvCxnSpPr>
          <p:cNvPr id="3" name="Connector 2"/>
          <p:cNvCxnSpPr/>
          <p:nvPr/>
        </p:nvCxnSpPr>
        <p:spPr>
          <a:xfrm>
            <a:off x="685800" y="676656"/>
            <a:ext cx="10817352" cy="0"/>
          </a:xfrm>
          <a:prstGeom prst="line">
            <a:avLst/>
          </a:prstGeom>
          <a:ln w="9525">
            <a:solidFill>
              <a:srgbClr val="6E737C"/>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85800" y="868680"/>
            <a:ext cx="10817352" cy="731520"/>
          </a:xfrm>
          <a:prstGeom prst="rect">
            <a:avLst/>
          </a:prstGeom>
          <a:noFill/>
        </p:spPr>
        <p:txBody>
          <a:bodyPr wrap="square">
            <a:spAutoFit/>
          </a:bodyPr>
          <a:lstStyle/>
          <a:p>
            <a:pPr algn="l">
              <a:lnSpc>
                <a:spcPct val="100000"/>
              </a:lnSpc>
            </a:pPr>
            <a:r>
              <a:rPr sz="3800" b="1" i="0">
                <a:solidFill>
                  <a:srgbClr val="14161A"/>
                </a:solidFill>
                <a:latin typeface="Avenir Next"/>
              </a:rPr>
              <a:t>Unusual is not the same as tariffed.</a:t>
            </a:r>
          </a:p>
        </p:txBody>
      </p:sp>
      <p:pic>
        <p:nvPicPr>
          <p:cNvPr id="5" name="Picture 4" descr="05_chapters.png"/>
          <p:cNvPicPr>
            <a:picLocks noChangeAspect="1"/>
          </p:cNvPicPr>
          <p:nvPr/>
        </p:nvPicPr>
        <p:blipFill>
          <a:blip r:embed="rId2"/>
          <a:stretch>
            <a:fillRect/>
          </a:stretch>
        </p:blipFill>
        <p:spPr>
          <a:xfrm>
            <a:off x="1700115" y="1874519"/>
            <a:ext cx="8791464" cy="3822192"/>
          </a:xfrm>
          <a:prstGeom prst="rect">
            <a:avLst/>
          </a:prstGeom>
        </p:spPr>
      </p:pic>
      <p:sp>
        <p:nvSpPr>
          <p:cNvPr id="6" name="TextBox 5"/>
          <p:cNvSpPr txBox="1"/>
          <p:nvPr/>
        </p:nvSpPr>
        <p:spPr>
          <a:xfrm>
            <a:off x="685800" y="5897880"/>
            <a:ext cx="10817352" cy="685800"/>
          </a:xfrm>
          <a:prstGeom prst="rect">
            <a:avLst/>
          </a:prstGeom>
          <a:noFill/>
        </p:spPr>
        <p:txBody>
          <a:bodyPr wrap="square">
            <a:spAutoFit/>
          </a:bodyPr>
          <a:lstStyle/>
          <a:p>
            <a:pPr algn="l">
              <a:lnSpc>
                <a:spcPct val="112000"/>
              </a:lnSpc>
            </a:pPr>
            <a:r>
              <a:rPr sz="1700" b="0" i="0">
                <a:solidFill>
                  <a:srgbClr val="6E737C"/>
                </a:solidFill>
                <a:latin typeface="Avenir Next"/>
              </a:rPr>
              <a:t>Fig. 4   We built a detector for unusual months. Each product chapter is measured</a:t>
            </a:r>
          </a:p>
          <a:p>
            <a:pPr algn="l">
              <a:lnSpc>
                <a:spcPct val="112000"/>
              </a:lnSpc>
            </a:pPr>
            <a:r>
              <a:rPr sz="1700" b="0" i="0">
                <a:solidFill>
                  <a:srgbClr val="6E737C"/>
                </a:solidFill>
                <a:latin typeface="Avenir Next"/>
              </a:rPr>
              <a:t>against its own normal range, built only from data before 2025 [6].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0" y="292608"/>
            <a:ext cx="6016752" cy="274320"/>
          </a:xfrm>
          <a:prstGeom prst="rect">
            <a:avLst/>
          </a:prstGeom>
          <a:noFill/>
        </p:spPr>
        <p:txBody>
          <a:bodyPr wrap="square">
            <a:spAutoFit/>
          </a:bodyPr>
          <a:lstStyle/>
          <a:p>
            <a:pPr algn="r">
              <a:lnSpc>
                <a:spcPct val="100000"/>
              </a:lnSpc>
            </a:pPr>
            <a:r>
              <a:rPr sz="900" b="0" i="0">
                <a:solidFill>
                  <a:srgbClr val="6E737C"/>
                </a:solidFill>
                <a:latin typeface="Avenir Next"/>
              </a:rPr>
              <a:t>RAHUL REDDY MANDADI   +   RAUNAKSINGH KHALSA</a:t>
            </a:r>
          </a:p>
        </p:txBody>
      </p:sp>
      <p:cxnSp>
        <p:nvCxnSpPr>
          <p:cNvPr id="3" name="Connector 2"/>
          <p:cNvCxnSpPr/>
          <p:nvPr/>
        </p:nvCxnSpPr>
        <p:spPr>
          <a:xfrm>
            <a:off x="685800" y="676656"/>
            <a:ext cx="10817352" cy="0"/>
          </a:xfrm>
          <a:prstGeom prst="line">
            <a:avLst/>
          </a:prstGeom>
          <a:ln w="9525">
            <a:solidFill>
              <a:srgbClr val="6E737C"/>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85800" y="868680"/>
            <a:ext cx="10817352" cy="731520"/>
          </a:xfrm>
          <a:prstGeom prst="rect">
            <a:avLst/>
          </a:prstGeom>
          <a:noFill/>
        </p:spPr>
        <p:txBody>
          <a:bodyPr wrap="square">
            <a:spAutoFit/>
          </a:bodyPr>
          <a:lstStyle/>
          <a:p>
            <a:pPr algn="l">
              <a:lnSpc>
                <a:spcPct val="100000"/>
              </a:lnSpc>
            </a:pPr>
            <a:r>
              <a:rPr sz="3800" b="1" i="0">
                <a:solidFill>
                  <a:srgbClr val="14161A"/>
                </a:solidFill>
                <a:latin typeface="Avenir Next"/>
              </a:rPr>
              <a:t>And this is where it nearly came apart.</a:t>
            </a:r>
          </a:p>
        </p:txBody>
      </p:sp>
      <p:pic>
        <p:nvPicPr>
          <p:cNvPr id="5" name="Picture 4" descr="07_coverage.png"/>
          <p:cNvPicPr>
            <a:picLocks noChangeAspect="1"/>
          </p:cNvPicPr>
          <p:nvPr/>
        </p:nvPicPr>
        <p:blipFill>
          <a:blip r:embed="rId2"/>
          <a:stretch>
            <a:fillRect/>
          </a:stretch>
        </p:blipFill>
        <p:spPr>
          <a:xfrm>
            <a:off x="1891882" y="1874519"/>
            <a:ext cx="8407929" cy="3822192"/>
          </a:xfrm>
          <a:prstGeom prst="rect">
            <a:avLst/>
          </a:prstGeom>
        </p:spPr>
      </p:pic>
      <p:sp>
        <p:nvSpPr>
          <p:cNvPr id="6" name="TextBox 5"/>
          <p:cNvSpPr txBox="1"/>
          <p:nvPr/>
        </p:nvSpPr>
        <p:spPr>
          <a:xfrm>
            <a:off x="685800" y="5897880"/>
            <a:ext cx="10817352" cy="685800"/>
          </a:xfrm>
          <a:prstGeom prst="rect">
            <a:avLst/>
          </a:prstGeom>
          <a:noFill/>
        </p:spPr>
        <p:txBody>
          <a:bodyPr wrap="square">
            <a:spAutoFit/>
          </a:bodyPr>
          <a:lstStyle/>
          <a:p>
            <a:pPr algn="l">
              <a:lnSpc>
                <a:spcPct val="112000"/>
              </a:lnSpc>
            </a:pPr>
            <a:r>
              <a:rPr sz="1700" b="0" i="0">
                <a:solidFill>
                  <a:srgbClr val="6E737C"/>
                </a:solidFill>
                <a:latin typeface="Avenir Next"/>
              </a:rPr>
              <a:t>Fig. 5   The typical tariff action covers about 5% of its chapter's value. A third cover under 1%.</a:t>
            </a:r>
          </a:p>
          <a:p>
            <a:pPr algn="l">
              <a:lnSpc>
                <a:spcPct val="112000"/>
              </a:lnSpc>
            </a:pPr>
            <a:r>
              <a:rPr sz="1700" b="0" i="0">
                <a:solidFill>
                  <a:srgbClr val="6E737C"/>
                </a:solidFill>
                <a:latin typeface="Avenir Next"/>
              </a:rPr>
              <a:t>Copper, for example: ten actions touch it, and seven cover under 1% of it.</a:t>
            </a:r>
          </a:p>
          <a:p>
            <a:pPr algn="l">
              <a:lnSpc>
                <a:spcPct val="112000"/>
              </a:lnSpc>
            </a:pPr>
            <a:r>
              <a:rPr sz="1700" b="0" i="0">
                <a:solidFill>
                  <a:srgbClr val="6E737C"/>
                </a:solidFill>
                <a:latin typeface="Avenir Next"/>
              </a:rPr>
              <a:t>Published work measures these at 8 to 10 digits [1]; coarser data shrinks estimates [2][3].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0" y="292608"/>
            <a:ext cx="6016752" cy="274320"/>
          </a:xfrm>
          <a:prstGeom prst="rect">
            <a:avLst/>
          </a:prstGeom>
          <a:noFill/>
        </p:spPr>
        <p:txBody>
          <a:bodyPr wrap="square">
            <a:spAutoFit/>
          </a:bodyPr>
          <a:lstStyle/>
          <a:p>
            <a:pPr algn="r">
              <a:lnSpc>
                <a:spcPct val="100000"/>
              </a:lnSpc>
            </a:pPr>
            <a:r>
              <a:rPr sz="900" b="0" i="0">
                <a:solidFill>
                  <a:srgbClr val="6E737C"/>
                </a:solidFill>
                <a:latin typeface="Avenir Next"/>
              </a:rPr>
              <a:t>RAHUL REDDY MANDADI   +   RAUNAKSINGH KHALSA</a:t>
            </a:r>
          </a:p>
        </p:txBody>
      </p:sp>
      <p:cxnSp>
        <p:nvCxnSpPr>
          <p:cNvPr id="3" name="Connector 2"/>
          <p:cNvCxnSpPr/>
          <p:nvPr/>
        </p:nvCxnSpPr>
        <p:spPr>
          <a:xfrm>
            <a:off x="685800" y="676656"/>
            <a:ext cx="10817352" cy="0"/>
          </a:xfrm>
          <a:prstGeom prst="line">
            <a:avLst/>
          </a:prstGeom>
          <a:ln w="9525">
            <a:solidFill>
              <a:srgbClr val="6E737C"/>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85800" y="868680"/>
            <a:ext cx="10817352" cy="731520"/>
          </a:xfrm>
          <a:prstGeom prst="rect">
            <a:avLst/>
          </a:prstGeom>
          <a:noFill/>
        </p:spPr>
        <p:txBody>
          <a:bodyPr wrap="square">
            <a:spAutoFit/>
          </a:bodyPr>
          <a:lstStyle/>
          <a:p>
            <a:pPr algn="l">
              <a:lnSpc>
                <a:spcPct val="100000"/>
              </a:lnSpc>
            </a:pPr>
            <a:r>
              <a:rPr sz="3800" b="1" i="0">
                <a:solidFill>
                  <a:srgbClr val="14161A"/>
                </a:solidFill>
                <a:latin typeface="Avenir Next"/>
              </a:rPr>
              <a:t>Where we are.</a:t>
            </a:r>
          </a:p>
        </p:txBody>
      </p:sp>
      <p:cxnSp>
        <p:nvCxnSpPr>
          <p:cNvPr id="5" name="Connector 4"/>
          <p:cNvCxnSpPr/>
          <p:nvPr/>
        </p:nvCxnSpPr>
        <p:spPr>
          <a:xfrm>
            <a:off x="685800" y="6035040"/>
            <a:ext cx="10817352" cy="0"/>
          </a:xfrm>
          <a:prstGeom prst="line">
            <a:avLst/>
          </a:prstGeom>
          <a:ln w="9525">
            <a:solidFill>
              <a:srgbClr val="6E737C"/>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163056"/>
            <a:ext cx="10817352" cy="685800"/>
          </a:xfrm>
          <a:prstGeom prst="rect">
            <a:avLst/>
          </a:prstGeom>
          <a:noFill/>
        </p:spPr>
        <p:txBody>
          <a:bodyPr wrap="square">
            <a:spAutoFit/>
          </a:bodyPr>
          <a:lstStyle/>
          <a:p>
            <a:pPr algn="l">
              <a:lnSpc>
                <a:spcPct val="112000"/>
              </a:lnSpc>
            </a:pPr>
            <a:r>
              <a:rPr sz="1700" b="0" i="0">
                <a:solidFill>
                  <a:srgbClr val="6E737C"/>
                </a:solidFill>
                <a:latin typeface="Avenir Next"/>
              </a:rPr>
              <a:t>Take-away for anyone working with this data: do not measure tariff effects at chapter level.</a:t>
            </a:r>
          </a:p>
          <a:p>
            <a:pPr algn="l">
              <a:lnSpc>
                <a:spcPct val="112000"/>
              </a:lnSpc>
            </a:pPr>
            <a:r>
              <a:rPr sz="1700" b="0" i="0">
                <a:solidFill>
                  <a:srgbClr val="6E737C"/>
                </a:solidFill>
                <a:latin typeface="Avenir Next"/>
              </a:rPr>
              <a:t>The typical action touches 5% of a chapter, so a real effect averages away to nothing.</a:t>
            </a:r>
          </a:p>
        </p:txBody>
      </p:sp>
      <p:sp>
        <p:nvSpPr>
          <p:cNvPr id="7" name="TextBox 6"/>
          <p:cNvSpPr txBox="1"/>
          <p:nvPr/>
        </p:nvSpPr>
        <p:spPr>
          <a:xfrm>
            <a:off x="822960" y="1700784"/>
            <a:ext cx="10360152" cy="731520"/>
          </a:xfrm>
          <a:prstGeom prst="rect">
            <a:avLst/>
          </a:prstGeom>
          <a:noFill/>
        </p:spPr>
        <p:txBody>
          <a:bodyPr wrap="square">
            <a:spAutoFit/>
          </a:bodyPr>
          <a:lstStyle/>
          <a:p>
            <a:pPr algn="l">
              <a:lnSpc>
                <a:spcPct val="115000"/>
              </a:lnSpc>
            </a:pPr>
            <a:r>
              <a:rPr sz="1600" b="1" i="0">
                <a:solidFill>
                  <a:srgbClr val="14161A"/>
                </a:solidFill>
                <a:latin typeface="Avenir Next"/>
              </a:rPr>
              <a:t>Built and checked</a:t>
            </a:r>
          </a:p>
        </p:txBody>
      </p:sp>
      <p:sp>
        <p:nvSpPr>
          <p:cNvPr id="8" name="TextBox 7"/>
          <p:cNvSpPr txBox="1"/>
          <p:nvPr/>
        </p:nvSpPr>
        <p:spPr>
          <a:xfrm>
            <a:off x="822960" y="2066544"/>
            <a:ext cx="10360152" cy="731520"/>
          </a:xfrm>
          <a:prstGeom prst="rect">
            <a:avLst/>
          </a:prstGeom>
          <a:noFill/>
        </p:spPr>
        <p:txBody>
          <a:bodyPr wrap="square">
            <a:spAutoFit/>
          </a:bodyPr>
          <a:lstStyle/>
          <a:p>
            <a:pPr algn="l">
              <a:lnSpc>
                <a:spcPct val="115000"/>
              </a:lnSpc>
            </a:pPr>
            <a:r>
              <a:rPr sz="1600" b="0" i="0">
                <a:solidFill>
                  <a:srgbClr val="6E737C"/>
                </a:solidFill>
                <a:latin typeface="Avenir Next"/>
              </a:rPr>
              <a:t>140 months at the level tariffs are written, and it adds up to the published totals.</a:t>
            </a:r>
          </a:p>
        </p:txBody>
      </p:sp>
      <p:sp>
        <p:nvSpPr>
          <p:cNvPr id="9" name="TextBox 8"/>
          <p:cNvSpPr txBox="1"/>
          <p:nvPr/>
        </p:nvSpPr>
        <p:spPr>
          <a:xfrm>
            <a:off x="822960" y="2432304"/>
            <a:ext cx="10360152" cy="731520"/>
          </a:xfrm>
          <a:prstGeom prst="rect">
            <a:avLst/>
          </a:prstGeom>
          <a:noFill/>
        </p:spPr>
        <p:txBody>
          <a:bodyPr wrap="square">
            <a:spAutoFit/>
          </a:bodyPr>
          <a:lstStyle/>
          <a:p>
            <a:pPr algn="l">
              <a:lnSpc>
                <a:spcPct val="115000"/>
              </a:lnSpc>
            </a:pPr>
            <a:r>
              <a:rPr sz="1600" b="1" i="0">
                <a:solidFill>
                  <a:srgbClr val="14161A"/>
                </a:solidFill>
                <a:latin typeface="Avenir Next"/>
              </a:rPr>
              <a:t>A detector, and its limit</a:t>
            </a:r>
          </a:p>
        </p:txBody>
      </p:sp>
      <p:sp>
        <p:nvSpPr>
          <p:cNvPr id="10" name="TextBox 9"/>
          <p:cNvSpPr txBox="1"/>
          <p:nvPr/>
        </p:nvSpPr>
        <p:spPr>
          <a:xfrm>
            <a:off x="822960" y="2798064"/>
            <a:ext cx="10360152" cy="731520"/>
          </a:xfrm>
          <a:prstGeom prst="rect">
            <a:avLst/>
          </a:prstGeom>
          <a:noFill/>
        </p:spPr>
        <p:txBody>
          <a:bodyPr wrap="square">
            <a:spAutoFit/>
          </a:bodyPr>
          <a:lstStyle/>
          <a:p>
            <a:pPr algn="l">
              <a:lnSpc>
                <a:spcPct val="115000"/>
              </a:lnSpc>
            </a:pPr>
            <a:r>
              <a:rPr sz="1600" b="0" i="0">
                <a:solidFill>
                  <a:srgbClr val="6E737C"/>
                </a:solidFill>
                <a:latin typeface="Avenir Next"/>
              </a:rPr>
              <a:t>It finds unusual months. It cannot tell a tariff from a price shock.</a:t>
            </a:r>
          </a:p>
        </p:txBody>
      </p:sp>
      <p:sp>
        <p:nvSpPr>
          <p:cNvPr id="11" name="TextBox 10"/>
          <p:cNvSpPr txBox="1"/>
          <p:nvPr/>
        </p:nvSpPr>
        <p:spPr>
          <a:xfrm>
            <a:off x="822960" y="3163824"/>
            <a:ext cx="10360152" cy="731520"/>
          </a:xfrm>
          <a:prstGeom prst="rect">
            <a:avLst/>
          </a:prstGeom>
          <a:noFill/>
        </p:spPr>
        <p:txBody>
          <a:bodyPr wrap="square">
            <a:spAutoFit/>
          </a:bodyPr>
          <a:lstStyle/>
          <a:p>
            <a:pPr algn="l">
              <a:lnSpc>
                <a:spcPct val="115000"/>
              </a:lnSpc>
            </a:pPr>
            <a:r>
              <a:rPr sz="1600" b="1" i="0">
                <a:solidFill>
                  <a:srgbClr val="14161A"/>
                </a:solidFill>
                <a:latin typeface="Avenir Next"/>
              </a:rPr>
              <a:t>134 tariff actions, with the products behind each one</a:t>
            </a:r>
          </a:p>
        </p:txBody>
      </p:sp>
      <p:sp>
        <p:nvSpPr>
          <p:cNvPr id="12" name="TextBox 11"/>
          <p:cNvSpPr txBox="1"/>
          <p:nvPr/>
        </p:nvSpPr>
        <p:spPr>
          <a:xfrm>
            <a:off x="822960" y="3529584"/>
            <a:ext cx="10360152" cy="731520"/>
          </a:xfrm>
          <a:prstGeom prst="rect">
            <a:avLst/>
          </a:prstGeom>
          <a:noFill/>
        </p:spPr>
        <p:txBody>
          <a:bodyPr wrap="square">
            <a:spAutoFit/>
          </a:bodyPr>
          <a:lstStyle/>
          <a:p>
            <a:pPr algn="l">
              <a:lnSpc>
                <a:spcPct val="115000"/>
              </a:lnSpc>
            </a:pPr>
            <a:r>
              <a:rPr sz="1600" b="0" i="0">
                <a:solidFill>
                  <a:srgbClr val="6E737C"/>
                </a:solidFill>
                <a:latin typeface="Avenir Next"/>
              </a:rPr>
              <a:t>Start dates re-read from the order texts, plus the 8-digit product lists.</a:t>
            </a:r>
          </a:p>
        </p:txBody>
      </p:sp>
      <p:sp>
        <p:nvSpPr>
          <p:cNvPr id="13" name="TextBox 12"/>
          <p:cNvSpPr txBox="1"/>
          <p:nvPr/>
        </p:nvSpPr>
        <p:spPr>
          <a:xfrm>
            <a:off x="822960" y="3895344"/>
            <a:ext cx="10360152" cy="731520"/>
          </a:xfrm>
          <a:prstGeom prst="rect">
            <a:avLst/>
          </a:prstGeom>
          <a:noFill/>
        </p:spPr>
        <p:txBody>
          <a:bodyPr wrap="square">
            <a:spAutoFit/>
          </a:bodyPr>
          <a:lstStyle/>
          <a:p>
            <a:pPr algn="l">
              <a:lnSpc>
                <a:spcPct val="115000"/>
              </a:lnSpc>
            </a:pPr>
            <a:r>
              <a:rPr sz="1600" b="1" i="0">
                <a:solidFill>
                  <a:srgbClr val="14161A"/>
                </a:solidFill>
                <a:latin typeface="Avenir Next"/>
              </a:rPr>
              <a:t>How we will measure it, and fix that limit</a:t>
            </a:r>
          </a:p>
        </p:txBody>
      </p:sp>
      <p:sp>
        <p:nvSpPr>
          <p:cNvPr id="14" name="TextBox 13"/>
          <p:cNvSpPr txBox="1"/>
          <p:nvPr/>
        </p:nvSpPr>
        <p:spPr>
          <a:xfrm>
            <a:off x="822960" y="4261104"/>
            <a:ext cx="10360152" cy="731520"/>
          </a:xfrm>
          <a:prstGeom prst="rect">
            <a:avLst/>
          </a:prstGeom>
          <a:noFill/>
        </p:spPr>
        <p:txBody>
          <a:bodyPr wrap="square">
            <a:spAutoFit/>
          </a:bodyPr>
          <a:lstStyle/>
          <a:p>
            <a:pPr algn="l">
              <a:lnSpc>
                <a:spcPct val="115000"/>
              </a:lnSpc>
            </a:pPr>
            <a:r>
              <a:rPr sz="1600" b="0" i="0">
                <a:solidFill>
                  <a:srgbClr val="6E737C"/>
                </a:solidFill>
                <a:latin typeface="Avenir Next"/>
              </a:rPr>
              <a:t>One product across origins: a price shock moves them all, a tariff moves one.</a:t>
            </a:r>
          </a:p>
        </p:txBody>
      </p:sp>
      <p:sp>
        <p:nvSpPr>
          <p:cNvPr id="15" name="TextBox 14"/>
          <p:cNvSpPr txBox="1"/>
          <p:nvPr/>
        </p:nvSpPr>
        <p:spPr>
          <a:xfrm>
            <a:off x="822960" y="4626864"/>
            <a:ext cx="10360152" cy="731520"/>
          </a:xfrm>
          <a:prstGeom prst="rect">
            <a:avLst/>
          </a:prstGeom>
          <a:noFill/>
        </p:spPr>
        <p:txBody>
          <a:bodyPr wrap="square">
            <a:spAutoFit/>
          </a:bodyPr>
          <a:lstStyle/>
          <a:p>
            <a:pPr algn="l">
              <a:lnSpc>
                <a:spcPct val="115000"/>
              </a:lnSpc>
            </a:pPr>
            <a:r>
              <a:rPr sz="1600" b="1" i="0">
                <a:solidFill>
                  <a:srgbClr val="14161A"/>
                </a:solidFill>
                <a:latin typeface="Avenir Next"/>
              </a:rPr>
              <a:t>How we will know it is real</a:t>
            </a:r>
          </a:p>
        </p:txBody>
      </p:sp>
      <p:sp>
        <p:nvSpPr>
          <p:cNvPr id="16" name="TextBox 15"/>
          <p:cNvSpPr txBox="1"/>
          <p:nvPr/>
        </p:nvSpPr>
        <p:spPr>
          <a:xfrm>
            <a:off x="822960" y="4992624"/>
            <a:ext cx="10360152" cy="731520"/>
          </a:xfrm>
          <a:prstGeom prst="rect">
            <a:avLst/>
          </a:prstGeom>
          <a:noFill/>
        </p:spPr>
        <p:txBody>
          <a:bodyPr wrap="square">
            <a:spAutoFit/>
          </a:bodyPr>
          <a:lstStyle/>
          <a:p>
            <a:pPr algn="l">
              <a:lnSpc>
                <a:spcPct val="115000"/>
              </a:lnSpc>
            </a:pPr>
            <a:r>
              <a:rPr sz="1600" b="0" i="0">
                <a:solidFill>
                  <a:srgbClr val="6E737C"/>
                </a:solidFill>
                <a:latin typeface="Avenir Next"/>
              </a:rPr>
              <a:t>Every estimate against a placebo. Three methods have already failed it.</a:t>
            </a:r>
          </a:p>
        </p:txBody>
      </p:sp>
      <p:sp>
        <p:nvSpPr>
          <p:cNvPr id="17" name="TextBox 16"/>
          <p:cNvSpPr txBox="1"/>
          <p:nvPr/>
        </p:nvSpPr>
        <p:spPr>
          <a:xfrm>
            <a:off x="822960" y="5358384"/>
            <a:ext cx="10360152" cy="731520"/>
          </a:xfrm>
          <a:prstGeom prst="rect">
            <a:avLst/>
          </a:prstGeom>
          <a:noFill/>
        </p:spPr>
        <p:txBody>
          <a:bodyPr wrap="square">
            <a:spAutoFit/>
          </a:bodyPr>
          <a:lstStyle/>
          <a:p>
            <a:pPr algn="l">
              <a:lnSpc>
                <a:spcPct val="115000"/>
              </a:lnSpc>
            </a:pPr>
            <a:r>
              <a:rPr sz="1600" b="1" i="0">
                <a:solidFill>
                  <a:srgbClr val="14161A"/>
                </a:solidFill>
                <a:latin typeface="Avenir Next"/>
              </a:rPr>
              <a:t>Next</a:t>
            </a:r>
          </a:p>
        </p:txBody>
      </p:sp>
      <p:sp>
        <p:nvSpPr>
          <p:cNvPr id="18" name="TextBox 17"/>
          <p:cNvSpPr txBox="1"/>
          <p:nvPr/>
        </p:nvSpPr>
        <p:spPr>
          <a:xfrm>
            <a:off x="822960" y="5724144"/>
            <a:ext cx="10360152" cy="731520"/>
          </a:xfrm>
          <a:prstGeom prst="rect">
            <a:avLst/>
          </a:prstGeom>
          <a:noFill/>
        </p:spPr>
        <p:txBody>
          <a:bodyPr wrap="square">
            <a:spAutoFit/>
          </a:bodyPr>
          <a:lstStyle/>
          <a:p>
            <a:pPr algn="l">
              <a:lnSpc>
                <a:spcPct val="115000"/>
              </a:lnSpc>
            </a:pPr>
            <a:r>
              <a:rPr sz="1600" b="0" i="0">
                <a:solidFill>
                  <a:srgbClr val="6E737C"/>
                </a:solidFill>
                <a:latin typeface="Avenir Next"/>
              </a:rPr>
              <a:t>Question 1 first, then questions 2 and 3 for the final report.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0" y="292608"/>
            <a:ext cx="6016752" cy="274320"/>
          </a:xfrm>
          <a:prstGeom prst="rect">
            <a:avLst/>
          </a:prstGeom>
          <a:noFill/>
        </p:spPr>
        <p:txBody>
          <a:bodyPr wrap="square">
            <a:spAutoFit/>
          </a:bodyPr>
          <a:lstStyle/>
          <a:p>
            <a:pPr algn="r">
              <a:lnSpc>
                <a:spcPct val="100000"/>
              </a:lnSpc>
            </a:pPr>
            <a:r>
              <a:rPr sz="900" b="0" i="0">
                <a:solidFill>
                  <a:srgbClr val="6E737C"/>
                </a:solidFill>
                <a:latin typeface="Avenir Next"/>
              </a:rPr>
              <a:t>RAHUL REDDY MANDADI   +   RAUNAKSINGH KHALSA</a:t>
            </a:r>
          </a:p>
        </p:txBody>
      </p:sp>
      <p:cxnSp>
        <p:nvCxnSpPr>
          <p:cNvPr id="3" name="Connector 2"/>
          <p:cNvCxnSpPr/>
          <p:nvPr/>
        </p:nvCxnSpPr>
        <p:spPr>
          <a:xfrm>
            <a:off x="685800" y="676656"/>
            <a:ext cx="10817352" cy="0"/>
          </a:xfrm>
          <a:prstGeom prst="line">
            <a:avLst/>
          </a:prstGeom>
          <a:ln w="9525">
            <a:solidFill>
              <a:srgbClr val="6E737C"/>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85800" y="868680"/>
            <a:ext cx="10817352" cy="731520"/>
          </a:xfrm>
          <a:prstGeom prst="rect">
            <a:avLst/>
          </a:prstGeom>
          <a:noFill/>
        </p:spPr>
        <p:txBody>
          <a:bodyPr wrap="square">
            <a:spAutoFit/>
          </a:bodyPr>
          <a:lstStyle/>
          <a:p>
            <a:pPr algn="l">
              <a:lnSpc>
                <a:spcPct val="100000"/>
              </a:lnSpc>
            </a:pPr>
            <a:r>
              <a:rPr sz="3800" b="1" i="0">
                <a:solidFill>
                  <a:srgbClr val="14161A"/>
                </a:solidFill>
                <a:latin typeface="Avenir Next"/>
              </a:rPr>
              <a:t>Backup: the tariff actions we found.</a:t>
            </a:r>
          </a:p>
        </p:txBody>
      </p:sp>
      <p:pic>
        <p:nvPicPr>
          <p:cNvPr id="5" name="Picture 4" descr="06_events.png"/>
          <p:cNvPicPr>
            <a:picLocks noChangeAspect="1"/>
          </p:cNvPicPr>
          <p:nvPr/>
        </p:nvPicPr>
        <p:blipFill>
          <a:blip r:embed="rId2"/>
          <a:stretch>
            <a:fillRect/>
          </a:stretch>
        </p:blipFill>
        <p:spPr>
          <a:xfrm>
            <a:off x="687171" y="1874519"/>
            <a:ext cx="10817352" cy="3625596"/>
          </a:xfrm>
          <a:prstGeom prst="rect">
            <a:avLst/>
          </a:prstGeom>
        </p:spPr>
      </p:pic>
      <p:sp>
        <p:nvSpPr>
          <p:cNvPr id="6" name="TextBox 5"/>
          <p:cNvSpPr txBox="1"/>
          <p:nvPr/>
        </p:nvSpPr>
        <p:spPr>
          <a:xfrm>
            <a:off x="685800" y="5897880"/>
            <a:ext cx="10817352" cy="685800"/>
          </a:xfrm>
          <a:prstGeom prst="rect">
            <a:avLst/>
          </a:prstGeom>
          <a:noFill/>
        </p:spPr>
        <p:txBody>
          <a:bodyPr wrap="square">
            <a:spAutoFit/>
          </a:bodyPr>
          <a:lstStyle/>
          <a:p>
            <a:pPr algn="l">
              <a:lnSpc>
                <a:spcPct val="112000"/>
              </a:lnSpc>
            </a:pPr>
            <a:r>
              <a:rPr sz="1700" b="0" i="0">
                <a:solidFill>
                  <a:srgbClr val="6E737C"/>
                </a:solidFill>
                <a:latin typeface="Avenir Next"/>
              </a:rPr>
              <a:t>Fig. 6   2,792 Federal Register documents reviewed, 134 are real tariff actions.</a:t>
            </a:r>
          </a:p>
          <a:p>
            <a:pPr algn="l">
              <a:lnSpc>
                <a:spcPct val="112000"/>
              </a:lnSpc>
            </a:pPr>
            <a:r>
              <a:rPr sz="1700" b="0" i="0">
                <a:solidFill>
                  <a:srgbClr val="6E737C"/>
                </a:solidFill>
                <a:latin typeface="Avenir Next"/>
              </a:rPr>
              <a:t>Median gap from announcement to start date is about 9 days.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0" y="292608"/>
            <a:ext cx="6016752" cy="274320"/>
          </a:xfrm>
          <a:prstGeom prst="rect">
            <a:avLst/>
          </a:prstGeom>
          <a:noFill/>
        </p:spPr>
        <p:txBody>
          <a:bodyPr wrap="square">
            <a:spAutoFit/>
          </a:bodyPr>
          <a:lstStyle/>
          <a:p>
            <a:pPr algn="r">
              <a:lnSpc>
                <a:spcPct val="100000"/>
              </a:lnSpc>
            </a:pPr>
            <a:r>
              <a:rPr sz="900" b="0" i="0">
                <a:solidFill>
                  <a:srgbClr val="6E737C"/>
                </a:solidFill>
                <a:latin typeface="Avenir Next"/>
              </a:rPr>
              <a:t>RAHUL REDDY MANDADI   +   RAUNAKSINGH KHALSA</a:t>
            </a:r>
          </a:p>
        </p:txBody>
      </p:sp>
      <p:cxnSp>
        <p:nvCxnSpPr>
          <p:cNvPr id="3" name="Connector 2"/>
          <p:cNvCxnSpPr/>
          <p:nvPr/>
        </p:nvCxnSpPr>
        <p:spPr>
          <a:xfrm>
            <a:off x="685800" y="676656"/>
            <a:ext cx="10817352" cy="0"/>
          </a:xfrm>
          <a:prstGeom prst="line">
            <a:avLst/>
          </a:prstGeom>
          <a:ln w="9525">
            <a:solidFill>
              <a:srgbClr val="6E737C"/>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85800" y="868680"/>
            <a:ext cx="10817352" cy="731520"/>
          </a:xfrm>
          <a:prstGeom prst="rect">
            <a:avLst/>
          </a:prstGeom>
          <a:noFill/>
        </p:spPr>
        <p:txBody>
          <a:bodyPr wrap="square">
            <a:spAutoFit/>
          </a:bodyPr>
          <a:lstStyle/>
          <a:p>
            <a:pPr algn="l">
              <a:lnSpc>
                <a:spcPct val="100000"/>
              </a:lnSpc>
            </a:pPr>
            <a:r>
              <a:rPr sz="3800" b="1" i="0">
                <a:solidFill>
                  <a:srgbClr val="14161A"/>
                </a:solidFill>
                <a:latin typeface="Avenir Next"/>
              </a:rPr>
              <a:t>Backup: what a normal range looks like.</a:t>
            </a:r>
          </a:p>
        </p:txBody>
      </p:sp>
      <p:pic>
        <p:nvPicPr>
          <p:cNvPr id="5" name="Picture 4" descr="04_normal.png"/>
          <p:cNvPicPr>
            <a:picLocks noChangeAspect="1"/>
          </p:cNvPicPr>
          <p:nvPr/>
        </p:nvPicPr>
        <p:blipFill>
          <a:blip r:embed="rId2"/>
          <a:stretch>
            <a:fillRect/>
          </a:stretch>
        </p:blipFill>
        <p:spPr>
          <a:xfrm>
            <a:off x="1824380" y="1874519"/>
            <a:ext cx="8542934" cy="3822192"/>
          </a:xfrm>
          <a:prstGeom prst="rect">
            <a:avLst/>
          </a:prstGeom>
        </p:spPr>
      </p:pic>
      <p:sp>
        <p:nvSpPr>
          <p:cNvPr id="6" name="TextBox 5"/>
          <p:cNvSpPr txBox="1"/>
          <p:nvPr/>
        </p:nvSpPr>
        <p:spPr>
          <a:xfrm>
            <a:off x="685800" y="5897880"/>
            <a:ext cx="10817352" cy="685800"/>
          </a:xfrm>
          <a:prstGeom prst="rect">
            <a:avLst/>
          </a:prstGeom>
          <a:noFill/>
        </p:spPr>
        <p:txBody>
          <a:bodyPr wrap="square">
            <a:spAutoFit/>
          </a:bodyPr>
          <a:lstStyle/>
          <a:p>
            <a:pPr algn="l">
              <a:lnSpc>
                <a:spcPct val="112000"/>
              </a:lnSpc>
            </a:pPr>
            <a:r>
              <a:rPr sz="1700" b="0" i="0">
                <a:solidFill>
                  <a:srgbClr val="6E737C"/>
                </a:solidFill>
                <a:latin typeface="Avenir Next"/>
              </a:rPr>
              <a:t>Fig. 7   Copper against its own expected range, built only from data before the</a:t>
            </a:r>
          </a:p>
          <a:p>
            <a:pPr algn="l">
              <a:lnSpc>
                <a:spcPct val="112000"/>
              </a:lnSpc>
            </a:pPr>
            <a:r>
              <a:rPr sz="1700" b="0" i="0">
                <a:solidFill>
                  <a:srgbClr val="6E737C"/>
                </a:solidFill>
                <a:latin typeface="Avenir Next"/>
              </a:rPr>
              <a:t>tariff. Seasonal-trend decomposition, after Cleveland et al. [6].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0" y="292608"/>
            <a:ext cx="6016752" cy="274320"/>
          </a:xfrm>
          <a:prstGeom prst="rect">
            <a:avLst/>
          </a:prstGeom>
          <a:noFill/>
        </p:spPr>
        <p:txBody>
          <a:bodyPr wrap="square">
            <a:spAutoFit/>
          </a:bodyPr>
          <a:lstStyle/>
          <a:p>
            <a:pPr algn="r">
              <a:lnSpc>
                <a:spcPct val="100000"/>
              </a:lnSpc>
            </a:pPr>
            <a:r>
              <a:rPr sz="900" b="0" i="0">
                <a:solidFill>
                  <a:srgbClr val="6E737C"/>
                </a:solidFill>
                <a:latin typeface="Avenir Next"/>
              </a:rPr>
              <a:t>RAHUL REDDY MANDADI   +   RAUNAKSINGH KHALSA</a:t>
            </a:r>
          </a:p>
        </p:txBody>
      </p:sp>
      <p:cxnSp>
        <p:nvCxnSpPr>
          <p:cNvPr id="3" name="Connector 2"/>
          <p:cNvCxnSpPr/>
          <p:nvPr/>
        </p:nvCxnSpPr>
        <p:spPr>
          <a:xfrm>
            <a:off x="685800" y="676656"/>
            <a:ext cx="10817352" cy="0"/>
          </a:xfrm>
          <a:prstGeom prst="line">
            <a:avLst/>
          </a:prstGeom>
          <a:ln w="9525">
            <a:solidFill>
              <a:srgbClr val="6E737C"/>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85800" y="868680"/>
            <a:ext cx="10817352" cy="731520"/>
          </a:xfrm>
          <a:prstGeom prst="rect">
            <a:avLst/>
          </a:prstGeom>
          <a:noFill/>
        </p:spPr>
        <p:txBody>
          <a:bodyPr wrap="square">
            <a:spAutoFit/>
          </a:bodyPr>
          <a:lstStyle/>
          <a:p>
            <a:pPr algn="l">
              <a:lnSpc>
                <a:spcPct val="100000"/>
              </a:lnSpc>
            </a:pPr>
            <a:r>
              <a:rPr sz="3800" b="1" i="0">
                <a:solidFill>
                  <a:srgbClr val="14161A"/>
                </a:solidFill>
                <a:latin typeface="Avenir Next"/>
              </a:rPr>
              <a:t>Backup: references.</a:t>
            </a:r>
          </a:p>
        </p:txBody>
      </p:sp>
      <p:sp>
        <p:nvSpPr>
          <p:cNvPr id="5" name="TextBox 4"/>
          <p:cNvSpPr txBox="1"/>
          <p:nvPr/>
        </p:nvSpPr>
        <p:spPr>
          <a:xfrm>
            <a:off x="685800" y="1783080"/>
            <a:ext cx="10817352" cy="310896"/>
          </a:xfrm>
          <a:prstGeom prst="rect">
            <a:avLst/>
          </a:prstGeom>
          <a:noFill/>
        </p:spPr>
        <p:txBody>
          <a:bodyPr wrap="square">
            <a:spAutoFit/>
          </a:bodyPr>
          <a:lstStyle/>
          <a:p>
            <a:pPr algn="l">
              <a:lnSpc>
                <a:spcPct val="100000"/>
              </a:lnSpc>
            </a:pPr>
            <a:r>
              <a:rPr sz="1300" b="0" i="0">
                <a:solidFill>
                  <a:srgbClr val="14161A"/>
                </a:solidFill>
                <a:latin typeface="Avenir Next"/>
              </a:rPr>
              <a:t>[1]  Fajgelbaum, P., Goldberg, P., Kennedy, P. and Khandelwal, A. (2020). The Return to</a:t>
            </a:r>
          </a:p>
        </p:txBody>
      </p:sp>
      <p:sp>
        <p:nvSpPr>
          <p:cNvPr id="6" name="TextBox 5"/>
          <p:cNvSpPr txBox="1"/>
          <p:nvPr/>
        </p:nvSpPr>
        <p:spPr>
          <a:xfrm>
            <a:off x="685800" y="2057400"/>
            <a:ext cx="10817352" cy="310896"/>
          </a:xfrm>
          <a:prstGeom prst="rect">
            <a:avLst/>
          </a:prstGeom>
          <a:noFill/>
        </p:spPr>
        <p:txBody>
          <a:bodyPr wrap="square">
            <a:spAutoFit/>
          </a:bodyPr>
          <a:lstStyle/>
          <a:p>
            <a:pPr algn="l">
              <a:lnSpc>
                <a:spcPct val="100000"/>
              </a:lnSpc>
            </a:pPr>
            <a:r>
              <a:rPr sz="1300" b="0" i="0">
                <a:solidFill>
                  <a:srgbClr val="6E737C"/>
                </a:solidFill>
                <a:latin typeface="Avenir Next"/>
              </a:rPr>
              <a:t>       Protectionism. Quarterly Journal of Economics 135(1), 1-55.</a:t>
            </a:r>
          </a:p>
        </p:txBody>
      </p:sp>
      <p:sp>
        <p:nvSpPr>
          <p:cNvPr id="7" name="TextBox 6"/>
          <p:cNvSpPr txBox="1"/>
          <p:nvPr/>
        </p:nvSpPr>
        <p:spPr>
          <a:xfrm>
            <a:off x="685800" y="2331720"/>
            <a:ext cx="10817352" cy="310896"/>
          </a:xfrm>
          <a:prstGeom prst="rect">
            <a:avLst/>
          </a:prstGeom>
          <a:noFill/>
        </p:spPr>
        <p:txBody>
          <a:bodyPr wrap="square">
            <a:spAutoFit/>
          </a:bodyPr>
          <a:lstStyle/>
          <a:p>
            <a:pPr algn="l">
              <a:lnSpc>
                <a:spcPct val="100000"/>
              </a:lnSpc>
            </a:pPr>
            <a:r>
              <a:rPr sz="1300" b="0" i="0">
                <a:solidFill>
                  <a:srgbClr val="14161A"/>
                </a:solidFill>
                <a:latin typeface="Avenir Next"/>
              </a:rPr>
              <a:t>[2]  Schrammel, M. and Schreiber, S. (2023). How Does Data Aggregation Impact Elasticity of</a:t>
            </a:r>
          </a:p>
        </p:txBody>
      </p:sp>
      <p:sp>
        <p:nvSpPr>
          <p:cNvPr id="8" name="TextBox 7"/>
          <p:cNvSpPr txBox="1"/>
          <p:nvPr/>
        </p:nvSpPr>
        <p:spPr>
          <a:xfrm>
            <a:off x="685800" y="2606039"/>
            <a:ext cx="10817352" cy="310896"/>
          </a:xfrm>
          <a:prstGeom prst="rect">
            <a:avLst/>
          </a:prstGeom>
          <a:noFill/>
        </p:spPr>
        <p:txBody>
          <a:bodyPr wrap="square">
            <a:spAutoFit/>
          </a:bodyPr>
          <a:lstStyle/>
          <a:p>
            <a:pPr algn="l">
              <a:lnSpc>
                <a:spcPct val="100000"/>
              </a:lnSpc>
            </a:pPr>
            <a:r>
              <a:rPr sz="1300" b="0" i="0">
                <a:solidFill>
                  <a:srgbClr val="6E737C"/>
                </a:solidFill>
                <a:latin typeface="Avenir Next"/>
              </a:rPr>
              <a:t>       Substitution Estimation? USITC Economics Working Paper 2023-10-B.</a:t>
            </a:r>
          </a:p>
        </p:txBody>
      </p:sp>
      <p:sp>
        <p:nvSpPr>
          <p:cNvPr id="9" name="TextBox 8"/>
          <p:cNvSpPr txBox="1"/>
          <p:nvPr/>
        </p:nvSpPr>
        <p:spPr>
          <a:xfrm>
            <a:off x="685800" y="2880359"/>
            <a:ext cx="10817352" cy="310896"/>
          </a:xfrm>
          <a:prstGeom prst="rect">
            <a:avLst/>
          </a:prstGeom>
          <a:noFill/>
        </p:spPr>
        <p:txBody>
          <a:bodyPr wrap="square">
            <a:spAutoFit/>
          </a:bodyPr>
          <a:lstStyle/>
          <a:p>
            <a:pPr algn="l">
              <a:lnSpc>
                <a:spcPct val="100000"/>
              </a:lnSpc>
            </a:pPr>
            <a:r>
              <a:rPr sz="1300" b="0" i="0">
                <a:solidFill>
                  <a:srgbClr val="14161A"/>
                </a:solidFill>
                <a:latin typeface="Avenir Next"/>
              </a:rPr>
              <a:t>[3]  Imbs, J. and Mejean, I. (2015). Elasticity Optimism. American Economic Journal:</a:t>
            </a:r>
          </a:p>
        </p:txBody>
      </p:sp>
      <p:sp>
        <p:nvSpPr>
          <p:cNvPr id="10" name="TextBox 9"/>
          <p:cNvSpPr txBox="1"/>
          <p:nvPr/>
        </p:nvSpPr>
        <p:spPr>
          <a:xfrm>
            <a:off x="685800" y="3154679"/>
            <a:ext cx="10817352" cy="310896"/>
          </a:xfrm>
          <a:prstGeom prst="rect">
            <a:avLst/>
          </a:prstGeom>
          <a:noFill/>
        </p:spPr>
        <p:txBody>
          <a:bodyPr wrap="square">
            <a:spAutoFit/>
          </a:bodyPr>
          <a:lstStyle/>
          <a:p>
            <a:pPr algn="l">
              <a:lnSpc>
                <a:spcPct val="100000"/>
              </a:lnSpc>
            </a:pPr>
            <a:r>
              <a:rPr sz="1300" b="0" i="0">
                <a:solidFill>
                  <a:srgbClr val="6E737C"/>
                </a:solidFill>
                <a:latin typeface="Avenir Next"/>
              </a:rPr>
              <a:t>       Macroeconomics 7(3), 43-83.</a:t>
            </a:r>
          </a:p>
        </p:txBody>
      </p:sp>
      <p:sp>
        <p:nvSpPr>
          <p:cNvPr id="11" name="TextBox 10"/>
          <p:cNvSpPr txBox="1"/>
          <p:nvPr/>
        </p:nvSpPr>
        <p:spPr>
          <a:xfrm>
            <a:off x="685800" y="3428999"/>
            <a:ext cx="10817352" cy="310896"/>
          </a:xfrm>
          <a:prstGeom prst="rect">
            <a:avLst/>
          </a:prstGeom>
          <a:noFill/>
        </p:spPr>
        <p:txBody>
          <a:bodyPr wrap="square">
            <a:spAutoFit/>
          </a:bodyPr>
          <a:lstStyle/>
          <a:p>
            <a:pPr algn="l">
              <a:lnSpc>
                <a:spcPct val="100000"/>
              </a:lnSpc>
            </a:pPr>
            <a:r>
              <a:rPr sz="1300" b="0" i="0">
                <a:solidFill>
                  <a:srgbClr val="14161A"/>
                </a:solidFill>
                <a:latin typeface="Avenir Next"/>
              </a:rPr>
              <a:t>[4]  Flaaen, A. and Pierce, J. (2019). Disentangling the Effects of the 2018-2019 Tariffs on a</a:t>
            </a:r>
          </a:p>
        </p:txBody>
      </p:sp>
      <p:sp>
        <p:nvSpPr>
          <p:cNvPr id="12" name="TextBox 11"/>
          <p:cNvSpPr txBox="1"/>
          <p:nvPr/>
        </p:nvSpPr>
        <p:spPr>
          <a:xfrm>
            <a:off x="685800" y="3703319"/>
            <a:ext cx="10817352" cy="310896"/>
          </a:xfrm>
          <a:prstGeom prst="rect">
            <a:avLst/>
          </a:prstGeom>
          <a:noFill/>
        </p:spPr>
        <p:txBody>
          <a:bodyPr wrap="square">
            <a:spAutoFit/>
          </a:bodyPr>
          <a:lstStyle/>
          <a:p>
            <a:pPr algn="l">
              <a:lnSpc>
                <a:spcPct val="100000"/>
              </a:lnSpc>
            </a:pPr>
            <a:r>
              <a:rPr sz="1300" b="0" i="0">
                <a:solidFill>
                  <a:srgbClr val="6E737C"/>
                </a:solidFill>
                <a:latin typeface="Avenir Next"/>
              </a:rPr>
              <a:t>       Globally Connected U.S. Manufacturing Sector. Federal Reserve FEDS 2019-086.</a:t>
            </a:r>
          </a:p>
        </p:txBody>
      </p:sp>
      <p:sp>
        <p:nvSpPr>
          <p:cNvPr id="13" name="TextBox 12"/>
          <p:cNvSpPr txBox="1"/>
          <p:nvPr/>
        </p:nvSpPr>
        <p:spPr>
          <a:xfrm>
            <a:off x="685800" y="3977639"/>
            <a:ext cx="10817352" cy="310896"/>
          </a:xfrm>
          <a:prstGeom prst="rect">
            <a:avLst/>
          </a:prstGeom>
          <a:noFill/>
        </p:spPr>
        <p:txBody>
          <a:bodyPr wrap="square">
            <a:spAutoFit/>
          </a:bodyPr>
          <a:lstStyle/>
          <a:p>
            <a:pPr algn="l">
              <a:lnSpc>
                <a:spcPct val="100000"/>
              </a:lnSpc>
            </a:pPr>
            <a:r>
              <a:rPr sz="1300" b="0" i="0">
                <a:solidFill>
                  <a:srgbClr val="14161A"/>
                </a:solidFill>
                <a:latin typeface="Avenir Next"/>
              </a:rPr>
              <a:t>[5]  Khan, S. Y. and Khederlarian, A. (2021). How does trade respond to anticipated tariff</a:t>
            </a:r>
          </a:p>
        </p:txBody>
      </p:sp>
      <p:sp>
        <p:nvSpPr>
          <p:cNvPr id="14" name="TextBox 13"/>
          <p:cNvSpPr txBox="1"/>
          <p:nvPr/>
        </p:nvSpPr>
        <p:spPr>
          <a:xfrm>
            <a:off x="685800" y="4251959"/>
            <a:ext cx="10817352" cy="310896"/>
          </a:xfrm>
          <a:prstGeom prst="rect">
            <a:avLst/>
          </a:prstGeom>
          <a:noFill/>
        </p:spPr>
        <p:txBody>
          <a:bodyPr wrap="square">
            <a:spAutoFit/>
          </a:bodyPr>
          <a:lstStyle/>
          <a:p>
            <a:pPr algn="l">
              <a:lnSpc>
                <a:spcPct val="100000"/>
              </a:lnSpc>
            </a:pPr>
            <a:r>
              <a:rPr sz="1300" b="0" i="0">
                <a:solidFill>
                  <a:srgbClr val="6E737C"/>
                </a:solidFill>
                <a:latin typeface="Avenir Next"/>
              </a:rPr>
              <a:t>       changes? Evidence from NAFTA. Journal of International Economics 133, 103538.</a:t>
            </a:r>
          </a:p>
        </p:txBody>
      </p:sp>
      <p:sp>
        <p:nvSpPr>
          <p:cNvPr id="15" name="TextBox 14"/>
          <p:cNvSpPr txBox="1"/>
          <p:nvPr/>
        </p:nvSpPr>
        <p:spPr>
          <a:xfrm>
            <a:off x="685800" y="4526279"/>
            <a:ext cx="10817352" cy="310896"/>
          </a:xfrm>
          <a:prstGeom prst="rect">
            <a:avLst/>
          </a:prstGeom>
          <a:noFill/>
        </p:spPr>
        <p:txBody>
          <a:bodyPr wrap="square">
            <a:spAutoFit/>
          </a:bodyPr>
          <a:lstStyle/>
          <a:p>
            <a:pPr algn="l">
              <a:lnSpc>
                <a:spcPct val="100000"/>
              </a:lnSpc>
            </a:pPr>
            <a:r>
              <a:rPr sz="1300" b="0" i="0">
                <a:solidFill>
                  <a:srgbClr val="14161A"/>
                </a:solidFill>
                <a:latin typeface="Avenir Next"/>
              </a:rPr>
              <a:t>[6]  Cleveland, R., Cleveland, W., McRae, J. and Terpenning, I. (1990). STL: A seasonal-trend</a:t>
            </a:r>
          </a:p>
        </p:txBody>
      </p:sp>
      <p:sp>
        <p:nvSpPr>
          <p:cNvPr id="16" name="TextBox 15"/>
          <p:cNvSpPr txBox="1"/>
          <p:nvPr/>
        </p:nvSpPr>
        <p:spPr>
          <a:xfrm>
            <a:off x="685800" y="4800599"/>
            <a:ext cx="10817352" cy="310896"/>
          </a:xfrm>
          <a:prstGeom prst="rect">
            <a:avLst/>
          </a:prstGeom>
          <a:noFill/>
        </p:spPr>
        <p:txBody>
          <a:bodyPr wrap="square">
            <a:spAutoFit/>
          </a:bodyPr>
          <a:lstStyle/>
          <a:p>
            <a:pPr algn="l">
              <a:lnSpc>
                <a:spcPct val="100000"/>
              </a:lnSpc>
            </a:pPr>
            <a:r>
              <a:rPr sz="1300" b="0" i="0">
                <a:solidFill>
                  <a:srgbClr val="6E737C"/>
                </a:solidFill>
                <a:latin typeface="Avenir Next"/>
              </a:rPr>
              <a:t>       decomposition procedure based on LOESS. Journal of Official Statistics 6(1), 3-73.</a:t>
            </a:r>
          </a:p>
        </p:txBody>
      </p:sp>
      <p:sp>
        <p:nvSpPr>
          <p:cNvPr id="17" name="TextBox 16"/>
          <p:cNvSpPr txBox="1"/>
          <p:nvPr/>
        </p:nvSpPr>
        <p:spPr>
          <a:xfrm>
            <a:off x="685800" y="5897880"/>
            <a:ext cx="10817352" cy="457200"/>
          </a:xfrm>
          <a:prstGeom prst="rect">
            <a:avLst/>
          </a:prstGeom>
          <a:noFill/>
        </p:spPr>
        <p:txBody>
          <a:bodyPr wrap="square">
            <a:spAutoFit/>
          </a:bodyPr>
          <a:lstStyle/>
          <a:p>
            <a:pPr algn="l">
              <a:lnSpc>
                <a:spcPct val="100000"/>
              </a:lnSpc>
            </a:pPr>
            <a:r>
              <a:rPr sz="1400" b="0" i="0">
                <a:solidFill>
                  <a:srgbClr val="6E737C"/>
                </a:solidFill>
                <a:latin typeface="Avenir Next"/>
              </a:rPr>
              <a:t>Data: US Census international trade API  |  Federal Register API  |  USITC Harmonized Tariff Schedule, chapter 99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